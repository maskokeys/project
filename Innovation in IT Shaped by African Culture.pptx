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2B3020D-0EB3-4256-822D-801DFCB157A1}"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C8B7E3-6DB9-436C-A40D-3470A0B8F32D}" type="slidenum">
              <a:rPr lang="en-US" smtClean="0"/>
              <a:t>‹#›</a:t>
            </a:fld>
            <a:endParaRPr lang="en-US"/>
          </a:p>
        </p:txBody>
      </p:sp>
    </p:spTree>
    <p:extLst>
      <p:ext uri="{BB962C8B-B14F-4D97-AF65-F5344CB8AC3E}">
        <p14:creationId xmlns:p14="http://schemas.microsoft.com/office/powerpoint/2010/main" val="18532023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12B3020D-0EB3-4256-822D-801DFCB157A1}"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C8B7E3-6DB9-436C-A40D-3470A0B8F32D}" type="slidenum">
              <a:rPr lang="en-US" smtClean="0"/>
              <a:t>‹#›</a:t>
            </a:fld>
            <a:endParaRPr lang="en-US"/>
          </a:p>
        </p:txBody>
      </p:sp>
    </p:spTree>
    <p:extLst>
      <p:ext uri="{BB962C8B-B14F-4D97-AF65-F5344CB8AC3E}">
        <p14:creationId xmlns:p14="http://schemas.microsoft.com/office/powerpoint/2010/main" val="899906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B3020D-0EB3-4256-822D-801DFCB157A1}"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C8B7E3-6DB9-436C-A40D-3470A0B8F32D}" type="slidenum">
              <a:rPr lang="en-US" smtClean="0"/>
              <a:t>‹#›</a:t>
            </a:fld>
            <a:endParaRPr lang="en-US"/>
          </a:p>
        </p:txBody>
      </p:sp>
    </p:spTree>
    <p:extLst>
      <p:ext uri="{BB962C8B-B14F-4D97-AF65-F5344CB8AC3E}">
        <p14:creationId xmlns:p14="http://schemas.microsoft.com/office/powerpoint/2010/main" val="897453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2B3020D-0EB3-4256-822D-801DFCB157A1}"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C8B7E3-6DB9-436C-A40D-3470A0B8F32D}" type="slidenum">
              <a:rPr lang="en-US" smtClean="0"/>
              <a:t>‹#›</a:t>
            </a:fld>
            <a:endParaRPr lang="en-US"/>
          </a:p>
        </p:txBody>
      </p:sp>
    </p:spTree>
    <p:extLst>
      <p:ext uri="{BB962C8B-B14F-4D97-AF65-F5344CB8AC3E}">
        <p14:creationId xmlns:p14="http://schemas.microsoft.com/office/powerpoint/2010/main" val="22573091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2B3020D-0EB3-4256-822D-801DFCB157A1}" type="datetimeFigureOut">
              <a:rPr lang="en-US" smtClean="0"/>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AC8B7E3-6DB9-436C-A40D-3470A0B8F32D}" type="slidenum">
              <a:rPr lang="en-US" smtClean="0"/>
              <a:t>‹#›</a:t>
            </a:fld>
            <a:endParaRPr lang="en-US"/>
          </a:p>
        </p:txBody>
      </p:sp>
    </p:spTree>
    <p:extLst>
      <p:ext uri="{BB962C8B-B14F-4D97-AF65-F5344CB8AC3E}">
        <p14:creationId xmlns:p14="http://schemas.microsoft.com/office/powerpoint/2010/main" val="3128398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2B3020D-0EB3-4256-822D-801DFCB157A1}" type="datetimeFigureOut">
              <a:rPr lang="en-US" smtClean="0"/>
              <a:t>12/1/2025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AC8B7E3-6DB9-436C-A40D-3470A0B8F32D}" type="slidenum">
              <a:rPr lang="en-US" smtClean="0"/>
              <a:t>‹#›</a:t>
            </a:fld>
            <a:endParaRPr lang="en-US"/>
          </a:p>
        </p:txBody>
      </p:sp>
    </p:spTree>
    <p:extLst>
      <p:ext uri="{BB962C8B-B14F-4D97-AF65-F5344CB8AC3E}">
        <p14:creationId xmlns:p14="http://schemas.microsoft.com/office/powerpoint/2010/main" val="4238717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2B3020D-0EB3-4256-822D-801DFCB157A1}" type="datetimeFigureOut">
              <a:rPr lang="en-US" smtClean="0"/>
              <a:t>12/1/2025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AC8B7E3-6DB9-436C-A40D-3470A0B8F32D}" type="slidenum">
              <a:rPr lang="en-US" smtClean="0"/>
              <a:t>‹#›</a:t>
            </a:fld>
            <a:endParaRPr lang="en-US"/>
          </a:p>
        </p:txBody>
      </p:sp>
    </p:spTree>
    <p:extLst>
      <p:ext uri="{BB962C8B-B14F-4D97-AF65-F5344CB8AC3E}">
        <p14:creationId xmlns:p14="http://schemas.microsoft.com/office/powerpoint/2010/main" val="6037240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12B3020D-0EB3-4256-822D-801DFCB157A1}" type="datetimeFigureOut">
              <a:rPr lang="en-US" smtClean="0"/>
              <a:t>12/1/2025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AC8B7E3-6DB9-436C-A40D-3470A0B8F32D}" type="slidenum">
              <a:rPr lang="en-US" smtClean="0"/>
              <a:t>‹#›</a:t>
            </a:fld>
            <a:endParaRPr lang="en-US"/>
          </a:p>
        </p:txBody>
      </p:sp>
    </p:spTree>
    <p:extLst>
      <p:ext uri="{BB962C8B-B14F-4D97-AF65-F5344CB8AC3E}">
        <p14:creationId xmlns:p14="http://schemas.microsoft.com/office/powerpoint/2010/main" val="25031024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B3020D-0EB3-4256-822D-801DFCB157A1}"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C8B7E3-6DB9-436C-A40D-3470A0B8F32D}" type="slidenum">
              <a:rPr lang="en-US" smtClean="0"/>
              <a:t>‹#›</a:t>
            </a:fld>
            <a:endParaRPr lang="en-US"/>
          </a:p>
        </p:txBody>
      </p:sp>
    </p:spTree>
    <p:extLst>
      <p:ext uri="{BB962C8B-B14F-4D97-AF65-F5344CB8AC3E}">
        <p14:creationId xmlns:p14="http://schemas.microsoft.com/office/powerpoint/2010/main" val="5989465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B3020D-0EB3-4256-822D-801DFCB157A1}"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C8B7E3-6DB9-436C-A40D-3470A0B8F32D}" type="slidenum">
              <a:rPr lang="en-US" smtClean="0"/>
              <a:t>‹#›</a:t>
            </a:fld>
            <a:endParaRPr lang="en-US"/>
          </a:p>
        </p:txBody>
      </p:sp>
    </p:spTree>
    <p:extLst>
      <p:ext uri="{BB962C8B-B14F-4D97-AF65-F5344CB8AC3E}">
        <p14:creationId xmlns:p14="http://schemas.microsoft.com/office/powerpoint/2010/main" val="280467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2B3020D-0EB3-4256-822D-801DFCB157A1}"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C8B7E3-6DB9-436C-A40D-3470A0B8F32D}" type="slidenum">
              <a:rPr lang="en-US" smtClean="0"/>
              <a:t>‹#›</a:t>
            </a:fld>
            <a:endParaRPr lang="en-US"/>
          </a:p>
        </p:txBody>
      </p:sp>
    </p:spTree>
    <p:extLst>
      <p:ext uri="{BB962C8B-B14F-4D97-AF65-F5344CB8AC3E}">
        <p14:creationId xmlns:p14="http://schemas.microsoft.com/office/powerpoint/2010/main" val="26649061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2B3020D-0EB3-4256-822D-801DFCB157A1}"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C8B7E3-6DB9-436C-A40D-3470A0B8F32D}"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1795148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B3020D-0EB3-4256-822D-801DFCB157A1}"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C8B7E3-6DB9-436C-A40D-3470A0B8F32D}" type="slidenum">
              <a:rPr lang="en-US" smtClean="0"/>
              <a:t>‹#›</a:t>
            </a:fld>
            <a:endParaRPr lang="en-US"/>
          </a:p>
        </p:txBody>
      </p:sp>
    </p:spTree>
    <p:extLst>
      <p:ext uri="{BB962C8B-B14F-4D97-AF65-F5344CB8AC3E}">
        <p14:creationId xmlns:p14="http://schemas.microsoft.com/office/powerpoint/2010/main" val="29364617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2B3020D-0EB3-4256-822D-801DFCB157A1}" type="datetimeFigureOut">
              <a:rPr lang="en-US" smtClean="0"/>
              <a:t>12/1/2025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C8B7E3-6DB9-436C-A40D-3470A0B8F32D}" type="slidenum">
              <a:rPr lang="en-US" smtClean="0"/>
              <a:t>‹#›</a:t>
            </a:fld>
            <a:endParaRPr lang="en-US"/>
          </a:p>
        </p:txBody>
      </p:sp>
    </p:spTree>
    <p:extLst>
      <p:ext uri="{BB962C8B-B14F-4D97-AF65-F5344CB8AC3E}">
        <p14:creationId xmlns:p14="http://schemas.microsoft.com/office/powerpoint/2010/main" val="3020748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2B3020D-0EB3-4256-822D-801DFCB157A1}" type="datetimeFigureOut">
              <a:rPr lang="en-US" smtClean="0"/>
              <a:t>12/1/2025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C8B7E3-6DB9-436C-A40D-3470A0B8F32D}" type="slidenum">
              <a:rPr lang="en-US" smtClean="0"/>
              <a:t>‹#›</a:t>
            </a:fld>
            <a:endParaRPr lang="en-US"/>
          </a:p>
        </p:txBody>
      </p:sp>
    </p:spTree>
    <p:extLst>
      <p:ext uri="{BB962C8B-B14F-4D97-AF65-F5344CB8AC3E}">
        <p14:creationId xmlns:p14="http://schemas.microsoft.com/office/powerpoint/2010/main" val="11499263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B3020D-0EB3-4256-822D-801DFCB157A1}"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C8B7E3-6DB9-436C-A40D-3470A0B8F32D}" type="slidenum">
              <a:rPr lang="en-US" smtClean="0"/>
              <a:t>‹#›</a:t>
            </a:fld>
            <a:endParaRPr lang="en-US"/>
          </a:p>
        </p:txBody>
      </p:sp>
    </p:spTree>
    <p:extLst>
      <p:ext uri="{BB962C8B-B14F-4D97-AF65-F5344CB8AC3E}">
        <p14:creationId xmlns:p14="http://schemas.microsoft.com/office/powerpoint/2010/main" val="20409960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B3020D-0EB3-4256-822D-801DFCB157A1}"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C8B7E3-6DB9-436C-A40D-3470A0B8F32D}" type="slidenum">
              <a:rPr lang="en-US" smtClean="0"/>
              <a:t>‹#›</a:t>
            </a:fld>
            <a:endParaRPr lang="en-US"/>
          </a:p>
        </p:txBody>
      </p:sp>
    </p:spTree>
    <p:extLst>
      <p:ext uri="{BB962C8B-B14F-4D97-AF65-F5344CB8AC3E}">
        <p14:creationId xmlns:p14="http://schemas.microsoft.com/office/powerpoint/2010/main" val="4066233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2B3020D-0EB3-4256-822D-801DFCB157A1}" type="datetimeFigureOut">
              <a:rPr lang="en-US" smtClean="0"/>
              <a:t>12/1/2025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AC8B7E3-6DB9-436C-A40D-3470A0B8F32D}" type="slidenum">
              <a:rPr lang="en-US" smtClean="0"/>
              <a:t>‹#›</a:t>
            </a:fld>
            <a:endParaRPr lang="en-US"/>
          </a:p>
        </p:txBody>
      </p:sp>
    </p:spTree>
    <p:extLst>
      <p:ext uri="{BB962C8B-B14F-4D97-AF65-F5344CB8AC3E}">
        <p14:creationId xmlns:p14="http://schemas.microsoft.com/office/powerpoint/2010/main" val="193062562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A274E-6934-F4EF-DAD1-EE505999A19C}"/>
              </a:ext>
            </a:extLst>
          </p:cNvPr>
          <p:cNvSpPr>
            <a:spLocks noGrp="1"/>
          </p:cNvSpPr>
          <p:nvPr>
            <p:ph type="ctrTitle"/>
          </p:nvPr>
        </p:nvSpPr>
        <p:spPr/>
        <p:txBody>
          <a:bodyPr/>
          <a:lstStyle/>
          <a:p>
            <a:r>
              <a:rPr lang="en-US" dirty="0"/>
              <a:t>Innovation in IT Shaped by African Culture</a:t>
            </a:r>
          </a:p>
        </p:txBody>
      </p:sp>
      <p:sp>
        <p:nvSpPr>
          <p:cNvPr id="3" name="Subtitle 2">
            <a:extLst>
              <a:ext uri="{FF2B5EF4-FFF2-40B4-BE49-F238E27FC236}">
                <a16:creationId xmlns:a16="http://schemas.microsoft.com/office/drawing/2014/main" id="{5DB70FB3-6D79-8779-5094-E33F01E533C9}"/>
              </a:ext>
            </a:extLst>
          </p:cNvPr>
          <p:cNvSpPr>
            <a:spLocks noGrp="1"/>
          </p:cNvSpPr>
          <p:nvPr>
            <p:ph type="subTitle" idx="1"/>
          </p:nvPr>
        </p:nvSpPr>
        <p:spPr/>
        <p:txBody>
          <a:bodyPr/>
          <a:lstStyle/>
          <a:p>
            <a:r>
              <a:rPr lang="en-US" dirty="0"/>
              <a:t>By: HARUN MNJAU MWAMUNGA</a:t>
            </a:r>
          </a:p>
          <a:p>
            <a:r>
              <a:rPr lang="en-US" dirty="0"/>
              <a:t>C025-01-0817/2022</a:t>
            </a:r>
          </a:p>
        </p:txBody>
      </p:sp>
    </p:spTree>
    <p:extLst>
      <p:ext uri="{BB962C8B-B14F-4D97-AF65-F5344CB8AC3E}">
        <p14:creationId xmlns:p14="http://schemas.microsoft.com/office/powerpoint/2010/main" val="789164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262A4-91E7-74BB-40A5-ADD495078742}"/>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76C1B292-19EF-E12B-B873-2EBD8449E229}"/>
              </a:ext>
            </a:extLst>
          </p:cNvPr>
          <p:cNvSpPr>
            <a:spLocks noGrp="1"/>
          </p:cNvSpPr>
          <p:nvPr>
            <p:ph idx="1"/>
          </p:nvPr>
        </p:nvSpPr>
        <p:spPr/>
        <p:txBody>
          <a:bodyPr>
            <a:normAutofit fontScale="85000" lnSpcReduction="20000"/>
          </a:bodyPr>
          <a:lstStyle/>
          <a:p>
            <a:r>
              <a:rPr lang="en-US" dirty="0"/>
              <a:t>Africa is one of the most linguistically diverse continents in the world, with over 2,000 distinct languages spoken across its regions. Despite this richness, only a small fraction of these languages appear in mainstream digital technologies such as search engines, voice assistants, machine translation tools, and educational platforms. This lack of representation has created a significant digital divide, where millions of people are unable to fully participate in the digital world because technology is not built to understand or communicate in their native languages. As a result, many communities face barriers in accessing online information, government services, and educational resources.</a:t>
            </a:r>
          </a:p>
          <a:p>
            <a:r>
              <a:rPr lang="en-US" dirty="0"/>
              <a:t>This challenge has motivated researchers, innovators, and technology companies to explore new frontiers in Artificial Intelligence, especially Natural Language Processing and Speech Technology, to integrate African languages into modern digital systems. These innovations aim to make technology more inclusive by enabling it to recognize, process, and generate African languages accurately. Beyond improving accessibility, this technological advancement helps preserve cultural identity by safeguarding languages that might otherwise be marginalized or lost. In this way, African language technology not only bridges digital gaps but also strengthens cultural heritage in the digital age.</a:t>
            </a:r>
          </a:p>
        </p:txBody>
      </p:sp>
    </p:spTree>
    <p:extLst>
      <p:ext uri="{BB962C8B-B14F-4D97-AF65-F5344CB8AC3E}">
        <p14:creationId xmlns:p14="http://schemas.microsoft.com/office/powerpoint/2010/main" val="2793480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2804E-862E-1A29-E89F-0FD75D0634E7}"/>
              </a:ext>
            </a:extLst>
          </p:cNvPr>
          <p:cNvSpPr>
            <a:spLocks noGrp="1"/>
          </p:cNvSpPr>
          <p:nvPr>
            <p:ph type="title"/>
          </p:nvPr>
        </p:nvSpPr>
        <p:spPr/>
        <p:txBody>
          <a:bodyPr/>
          <a:lstStyle/>
          <a:p>
            <a:r>
              <a:rPr lang="en-US" dirty="0"/>
              <a:t>Innovation: AI Systems for African Languages</a:t>
            </a:r>
          </a:p>
        </p:txBody>
      </p:sp>
      <p:sp>
        <p:nvSpPr>
          <p:cNvPr id="3" name="Content Placeholder 2">
            <a:extLst>
              <a:ext uri="{FF2B5EF4-FFF2-40B4-BE49-F238E27FC236}">
                <a16:creationId xmlns:a16="http://schemas.microsoft.com/office/drawing/2014/main" id="{9B0FCAC1-3308-0CCA-A3C9-4D1AF568C3C1}"/>
              </a:ext>
            </a:extLst>
          </p:cNvPr>
          <p:cNvSpPr>
            <a:spLocks noGrp="1"/>
          </p:cNvSpPr>
          <p:nvPr>
            <p:ph idx="1"/>
          </p:nvPr>
        </p:nvSpPr>
        <p:spPr/>
        <p:txBody>
          <a:bodyPr>
            <a:normAutofit fontScale="77500" lnSpcReduction="20000"/>
          </a:bodyPr>
          <a:lstStyle/>
          <a:p>
            <a:r>
              <a:rPr lang="en-US" dirty="0"/>
              <a:t>AI systems for African languages represent a significant technological breakthrough designed to bridge the communication gap between Africa’s linguistic diversity and modern digital tools. These systems rely on advanced technologies such as Natural Language Processing (NLP) and speech recognition to enable computers to understand and interpret African languages accurately. They allow machines to translate text between African and global languages, recognize unique speech patterns and accents across different regions, and generate text or spoken responses in local languages. This innovation powers various applications including chatbots, virtual assistants, and digital learning platforms that communicate naturally with users in Kiswahili, Yoruba, Zulu, Amharic, and many other African languages.</a:t>
            </a:r>
          </a:p>
          <a:p>
            <a:r>
              <a:rPr lang="en-US" dirty="0"/>
              <a:t>Several practical examples highlight the growing impact of these technologies. Google has introduced African-language speech recognition systems that help users interact with devices using their native languages. Masakhane, a community-driven Pan-African NLP research network, focuses on building open-source AI models for numerous African languages, promoting collaboration and inclusivity. Additionally, regional language-learning apps and translation tools are being developed to support everyday communication and cultural preservation. Together, these innovations demonstrate how AI is transforming Africa’s digital landscape by making technology more accessible, culturally aligned, and effective for local communities.</a:t>
            </a:r>
          </a:p>
        </p:txBody>
      </p:sp>
    </p:spTree>
    <p:extLst>
      <p:ext uri="{BB962C8B-B14F-4D97-AF65-F5344CB8AC3E}">
        <p14:creationId xmlns:p14="http://schemas.microsoft.com/office/powerpoint/2010/main" val="3922494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42AC3-AD22-8FE0-D1F4-AC53591C38AF}"/>
              </a:ext>
            </a:extLst>
          </p:cNvPr>
          <p:cNvSpPr>
            <a:spLocks noGrp="1"/>
          </p:cNvSpPr>
          <p:nvPr>
            <p:ph type="title"/>
          </p:nvPr>
        </p:nvSpPr>
        <p:spPr/>
        <p:txBody>
          <a:bodyPr/>
          <a:lstStyle/>
          <a:p>
            <a:r>
              <a:rPr lang="en-US" dirty="0"/>
              <a:t>Cultural Influence</a:t>
            </a:r>
          </a:p>
        </p:txBody>
      </p:sp>
      <p:sp>
        <p:nvSpPr>
          <p:cNvPr id="3" name="Content Placeholder 2">
            <a:extLst>
              <a:ext uri="{FF2B5EF4-FFF2-40B4-BE49-F238E27FC236}">
                <a16:creationId xmlns:a16="http://schemas.microsoft.com/office/drawing/2014/main" id="{C854A157-01EC-3E14-2EB3-ADD1E21BDA7A}"/>
              </a:ext>
            </a:extLst>
          </p:cNvPr>
          <p:cNvSpPr>
            <a:spLocks noGrp="1"/>
          </p:cNvSpPr>
          <p:nvPr>
            <p:ph idx="1"/>
          </p:nvPr>
        </p:nvSpPr>
        <p:spPr/>
        <p:txBody>
          <a:bodyPr>
            <a:normAutofit fontScale="85000" lnSpcReduction="20000"/>
          </a:bodyPr>
          <a:lstStyle/>
          <a:p>
            <a:r>
              <a:rPr lang="en-US" dirty="0"/>
              <a:t>African culture has played a central role in shaping innovations in AI systems designed for African languages. The continent’s rich linguistic diversity—characterized by unique grammatical structures, tonal patterns, idioms, and proverbs—provides a wide range of cultural expressions that influence how language technologies are developed. Unlike many Western languages, African languages often rely heavily on context, metaphor, and oral traditions, which require AI models to be trained differently in order to capture deeper cultural meanings. These cultural elements guide the design of AI tools so they can interpret language in ways that reflect how people naturally communicate within their communities.</a:t>
            </a:r>
          </a:p>
          <a:p>
            <a:r>
              <a:rPr lang="en-US" dirty="0"/>
              <a:t>Moreover, African culture emphasizes communal interaction and storytelling, which has inspired researchers to develop AI models that learn from collective communication styles rather than purely individual expressions. This cultural influence has also led to the creation of local datasets built by African speakers, researchers, and elders who contribute authentic examples of spoken and written language. These datasets preserve indigenous knowledge and ensure that AI tools reflect the realities of African societies. By grounding technological innovation in cultural identity, African-language AI systems become more accurate, relatable, and effective for the people they are meant to serve.</a:t>
            </a:r>
          </a:p>
        </p:txBody>
      </p:sp>
    </p:spTree>
    <p:extLst>
      <p:ext uri="{BB962C8B-B14F-4D97-AF65-F5344CB8AC3E}">
        <p14:creationId xmlns:p14="http://schemas.microsoft.com/office/powerpoint/2010/main" val="862842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88566-1CEC-4D33-B4BA-B7135680B6A8}"/>
              </a:ext>
            </a:extLst>
          </p:cNvPr>
          <p:cNvSpPr>
            <a:spLocks noGrp="1"/>
          </p:cNvSpPr>
          <p:nvPr>
            <p:ph type="title"/>
          </p:nvPr>
        </p:nvSpPr>
        <p:spPr/>
        <p:txBody>
          <a:bodyPr/>
          <a:lstStyle/>
          <a:p>
            <a:r>
              <a:rPr lang="en-US" dirty="0"/>
              <a:t>Use Cases in Africa</a:t>
            </a:r>
          </a:p>
        </p:txBody>
      </p:sp>
      <p:sp>
        <p:nvSpPr>
          <p:cNvPr id="3" name="Content Placeholder 2">
            <a:extLst>
              <a:ext uri="{FF2B5EF4-FFF2-40B4-BE49-F238E27FC236}">
                <a16:creationId xmlns:a16="http://schemas.microsoft.com/office/drawing/2014/main" id="{8F3937A4-2B25-9E93-4ECD-7D5D18E3E2BF}"/>
              </a:ext>
            </a:extLst>
          </p:cNvPr>
          <p:cNvSpPr>
            <a:spLocks noGrp="1"/>
          </p:cNvSpPr>
          <p:nvPr>
            <p:ph idx="1"/>
          </p:nvPr>
        </p:nvSpPr>
        <p:spPr/>
        <p:txBody>
          <a:bodyPr>
            <a:normAutofit fontScale="77500" lnSpcReduction="20000"/>
          </a:bodyPr>
          <a:lstStyle/>
          <a:p>
            <a:r>
              <a:rPr lang="en-US" dirty="0"/>
              <a:t>AI systems designed for African languages have created impactful solutions across key sectors in Africa. In education, these technologies make learning more inclusive by enabling e-learning platforms to teach or translate content into local languages, allowing children to understand lessons in their mother tongue. This improves comprehension, reduces dropout rates, and supports multilingual education. In healthcare, AI-powered chatbots and support systems help patients by explaining medical instructions, symptoms, and treatment options in languages they fully understand, ensuring safer and more effective communication. Similarly, in e-government services, language-enabled digital platforms help citizens access important information, fill out forms, and interact with government portals even if they do not speak English or other former colonial languages</a:t>
            </a:r>
          </a:p>
          <a:p>
            <a:r>
              <a:rPr lang="en-US" dirty="0"/>
              <a:t>The impact extends to agriculture and cultural preservation as well. Farmers benefit from mobile apps that deliver weather updates, planting guides, and pest control advice in familiar dialects, enabling them to make informed decisions and increase productivity. At the same time, digital tools are being developed to preserve African cultural heritage by creating online archives that record oral traditions, folktales, songs, and indigenous histories. These innovations ensure that cultural knowledge is not lost and can be passed on to future generations. Together, these use cases show how AI rooted in African languages strengthens development, inclusion, and cultural continuity across the continent.</a:t>
            </a:r>
          </a:p>
        </p:txBody>
      </p:sp>
    </p:spTree>
    <p:extLst>
      <p:ext uri="{BB962C8B-B14F-4D97-AF65-F5344CB8AC3E}">
        <p14:creationId xmlns:p14="http://schemas.microsoft.com/office/powerpoint/2010/main" val="25220314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10C2D-EBA2-53CF-4518-65ECACA86210}"/>
              </a:ext>
            </a:extLst>
          </p:cNvPr>
          <p:cNvSpPr>
            <a:spLocks noGrp="1"/>
          </p:cNvSpPr>
          <p:nvPr>
            <p:ph type="title"/>
          </p:nvPr>
        </p:nvSpPr>
        <p:spPr/>
        <p:txBody>
          <a:bodyPr/>
          <a:lstStyle/>
          <a:p>
            <a:r>
              <a:rPr lang="en-US" dirty="0"/>
              <a:t>Benefits</a:t>
            </a:r>
          </a:p>
        </p:txBody>
      </p:sp>
      <p:sp>
        <p:nvSpPr>
          <p:cNvPr id="3" name="Content Placeholder 2">
            <a:extLst>
              <a:ext uri="{FF2B5EF4-FFF2-40B4-BE49-F238E27FC236}">
                <a16:creationId xmlns:a16="http://schemas.microsoft.com/office/drawing/2014/main" id="{CEDE1EBE-19C7-5798-36FE-13A9DB6F8E6E}"/>
              </a:ext>
            </a:extLst>
          </p:cNvPr>
          <p:cNvSpPr>
            <a:spLocks noGrp="1"/>
          </p:cNvSpPr>
          <p:nvPr>
            <p:ph idx="1"/>
          </p:nvPr>
        </p:nvSpPr>
        <p:spPr/>
        <p:txBody>
          <a:bodyPr>
            <a:normAutofit fontScale="77500" lnSpcReduction="20000"/>
          </a:bodyPr>
          <a:lstStyle/>
          <a:p>
            <a:r>
              <a:rPr lang="en-US" dirty="0"/>
              <a:t>The integration of African languages into modern AI systems brings significant benefits by promoting digital inclusion across the continent. By reducing language barriers in technology, more people can access online services, educational materials, and digital tools in their own languages, regardless of literacy levels in global languages like English or French. This makes technology more accessible to rural communities, older generations, and individuals who primarily communicate in local dialects. Additionally, language-based AI helps preserve African cultural identity by supporting the use of indigenous languages in digital spaces, ensuring that cultural expressions, traditional knowledge, and local communication styles are not lost as the world becomes increasingly digital.</a:t>
            </a:r>
          </a:p>
          <a:p>
            <a:r>
              <a:rPr lang="en-US" dirty="0"/>
              <a:t>Beyond social impact, these innovations contribute to the development of more accurate and ethical AI systems in Africa. AI models trained on authentic African linguistic data better understand local contexts, reducing errors and biases that often occur when using systems designed for foreign languages. This creates opportunities for local researchers, developers, and tech entrepreneurs to build solutions tailored to African needs, driving innovation and job creation within the technology sector. As a result, African-language AI not only strengthens cultural preservation and accessibility but also supports economic growth and technological self-reliance across the continent.</a:t>
            </a:r>
          </a:p>
        </p:txBody>
      </p:sp>
    </p:spTree>
    <p:extLst>
      <p:ext uri="{BB962C8B-B14F-4D97-AF65-F5344CB8AC3E}">
        <p14:creationId xmlns:p14="http://schemas.microsoft.com/office/powerpoint/2010/main" val="2214297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38849-788F-FD14-DFE4-3F2AF4CBEAFE}"/>
              </a:ext>
            </a:extLst>
          </p:cNvPr>
          <p:cNvSpPr>
            <a:spLocks noGrp="1"/>
          </p:cNvSpPr>
          <p:nvPr>
            <p:ph type="title"/>
          </p:nvPr>
        </p:nvSpPr>
        <p:spPr/>
        <p:txBody>
          <a:bodyPr/>
          <a:lstStyle/>
          <a:p>
            <a:r>
              <a:rPr lang="en-US" dirty="0"/>
              <a:t>Challenges</a:t>
            </a:r>
          </a:p>
        </p:txBody>
      </p:sp>
      <p:sp>
        <p:nvSpPr>
          <p:cNvPr id="3" name="Content Placeholder 2">
            <a:extLst>
              <a:ext uri="{FF2B5EF4-FFF2-40B4-BE49-F238E27FC236}">
                <a16:creationId xmlns:a16="http://schemas.microsoft.com/office/drawing/2014/main" id="{3E7A020A-114D-A37E-CE7E-9B1D7093EFBD}"/>
              </a:ext>
            </a:extLst>
          </p:cNvPr>
          <p:cNvSpPr>
            <a:spLocks noGrp="1"/>
          </p:cNvSpPr>
          <p:nvPr>
            <p:ph idx="1"/>
          </p:nvPr>
        </p:nvSpPr>
        <p:spPr/>
        <p:txBody>
          <a:bodyPr>
            <a:normAutofit fontScale="85000" lnSpcReduction="20000"/>
          </a:bodyPr>
          <a:lstStyle/>
          <a:p>
            <a:r>
              <a:rPr lang="en-US" dirty="0"/>
              <a:t>Developing AI systems for African languages faces several significant challenges, beginning with the lack of large, high-quality datasets. Many African languages have limited written resources, making it difficult to gather the text and audio data needed to train AI models effectively. Some languages exist primarily in oral form, which means researchers must rely on recordings, interviews, and community contributions rather than written documents. This creates additional complexity in digitization and data collection. Furthermore, the scarcity of research materials and linguistic documentation slows progress, leading to uneven technological support across different African languages.</a:t>
            </a:r>
          </a:p>
          <a:p>
            <a:r>
              <a:rPr lang="en-US" dirty="0"/>
              <a:t>Another major challenge is the limited funding available for local AI research and development. Many African researchers and institutions struggle to secure financial support to build datasets, develop open-source tools, or conduct large-scale linguistic studies. Additionally, the diversity of languages across the continent means that cross-country collaboration is essential, yet difficult to coordinate due to differing priorities, limited infrastructure, and geographical barriers. Without strong partnerships and sustained investment, it becomes harder to build comprehensive language technologies that reflect the full spectrum of African linguistic diversity. Despite these obstacles, growing interest and grassroots initiatives continue to push the field forward.</a:t>
            </a:r>
          </a:p>
        </p:txBody>
      </p:sp>
    </p:spTree>
    <p:extLst>
      <p:ext uri="{BB962C8B-B14F-4D97-AF65-F5344CB8AC3E}">
        <p14:creationId xmlns:p14="http://schemas.microsoft.com/office/powerpoint/2010/main" val="555445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5AFF0-B2F7-AB2C-0AA2-831F14869012}"/>
              </a:ext>
            </a:extLst>
          </p:cNvPr>
          <p:cNvSpPr>
            <a:spLocks noGrp="1"/>
          </p:cNvSpPr>
          <p:nvPr>
            <p:ph type="title"/>
          </p:nvPr>
        </p:nvSpPr>
        <p:spPr/>
        <p:txBody>
          <a:bodyPr/>
          <a:lstStyle/>
          <a:p>
            <a:r>
              <a:rPr lang="en-US" dirty="0"/>
              <a:t>Future Directions</a:t>
            </a:r>
          </a:p>
        </p:txBody>
      </p:sp>
      <p:sp>
        <p:nvSpPr>
          <p:cNvPr id="3" name="Content Placeholder 2">
            <a:extLst>
              <a:ext uri="{FF2B5EF4-FFF2-40B4-BE49-F238E27FC236}">
                <a16:creationId xmlns:a16="http://schemas.microsoft.com/office/drawing/2014/main" id="{B9D651E6-7FD1-1730-259B-38617C505294}"/>
              </a:ext>
            </a:extLst>
          </p:cNvPr>
          <p:cNvSpPr>
            <a:spLocks noGrp="1"/>
          </p:cNvSpPr>
          <p:nvPr>
            <p:ph idx="1"/>
          </p:nvPr>
        </p:nvSpPr>
        <p:spPr/>
        <p:txBody>
          <a:bodyPr>
            <a:normAutofit fontScale="77500" lnSpcReduction="20000"/>
          </a:bodyPr>
          <a:lstStyle/>
          <a:p>
            <a:r>
              <a:rPr lang="en-US" dirty="0"/>
              <a:t>The future of African language technology is promising, with increasing efforts to develop AI models for underrepresented languages. Many African languages still lack digital tools, so the next phase involves expanding research and building models that can understand, translate, and generate these languages accurately. As African AI continues to grow, developers are also exploring how to integrate the </a:t>
            </a:r>
            <a:r>
              <a:rPr lang="en-US" b="1" dirty="0"/>
              <a:t>Ubuntu philosophy</a:t>
            </a:r>
            <a:r>
              <a:rPr lang="en-US" dirty="0"/>
              <a:t>—a cultural value emphasizing unity, community, and shared humanity—into AI ethics. This approach encourages the creation of technologies that are fair, inclusive, transparent, and designed to serve the well-being of entire communities rather than only individuals or corporations.</a:t>
            </a:r>
          </a:p>
          <a:p>
            <a:r>
              <a:rPr lang="en-US" dirty="0"/>
              <a:t>Looking ahead, voice-enabled technologies are expected to become more widespread across Africa, giving users the ability to interact with devices through speech in their native languages. This can greatly improve accessibility, especially for people with low literacy levels or limited exposure to global languages. At the same time, governments and cultural institutions are beginning to recognize the importance of preserving indigenous knowledge. Increased support for digitizing oral histories, traditional stories, and local wisdom will ensure that African cultural heritage is protected and can be integrated into future AI systems. Together, these efforts point toward a future where technology reflects Africa’s cultural richness and serves its diverse populations more effectively.</a:t>
            </a:r>
          </a:p>
        </p:txBody>
      </p:sp>
    </p:spTree>
    <p:extLst>
      <p:ext uri="{BB962C8B-B14F-4D97-AF65-F5344CB8AC3E}">
        <p14:creationId xmlns:p14="http://schemas.microsoft.com/office/powerpoint/2010/main" val="2733135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19B1D-D1E1-64C9-36E5-E1A97F8719F8}"/>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7A3EF981-D38C-6C81-81C2-61A4C86E532E}"/>
              </a:ext>
            </a:extLst>
          </p:cNvPr>
          <p:cNvSpPr>
            <a:spLocks noGrp="1"/>
          </p:cNvSpPr>
          <p:nvPr>
            <p:ph idx="1"/>
          </p:nvPr>
        </p:nvSpPr>
        <p:spPr/>
        <p:txBody>
          <a:bodyPr>
            <a:normAutofit fontScale="85000" lnSpcReduction="10000"/>
          </a:bodyPr>
          <a:lstStyle/>
          <a:p>
            <a:r>
              <a:rPr lang="en-US" dirty="0"/>
              <a:t>Indigenous African Language Technology represents a powerful and transformative innovation in the field of Information Technology. By building AI systems that understand and communicate in African languages, developers are proving that culture can be a driving force for technological advancement. These solutions make digital tools more inclusive by allowing people to engage with technology in the languages they know best, removing barriers that have traditionally limited access. They also promote ethical AI practices by ensuring that technology is designed with cultural awareness, fairness, and respect for local identities.</a:t>
            </a:r>
          </a:p>
          <a:p>
            <a:r>
              <a:rPr lang="en-US" dirty="0"/>
              <a:t>As more African languages enter the digital space, the continent moves closer to a future where technology truly reflects and serves its diverse communities. Embracing culturally grounded innovations empowers not only individuals but entire societies by supporting education, governance, healthcare, and economic development. This approach strengthens Africa’s digital independence, preserves cultural heritage, and fosters innovation that is uniquely tailored to African needs. </a:t>
            </a:r>
            <a:r>
              <a:rPr lang="en-US"/>
              <a:t>Ultimately, integrating indigenous languages into modern IT helps build a more connected, inclusive, and empowered Africa.</a:t>
            </a:r>
          </a:p>
        </p:txBody>
      </p:sp>
    </p:spTree>
    <p:extLst>
      <p:ext uri="{BB962C8B-B14F-4D97-AF65-F5344CB8AC3E}">
        <p14:creationId xmlns:p14="http://schemas.microsoft.com/office/powerpoint/2010/main" val="402969959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16</TotalTime>
  <Words>1796</Words>
  <Application>Microsoft Office PowerPoint</Application>
  <PresentationFormat>Widescreen</PresentationFormat>
  <Paragraphs>27</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Century Gothic</vt:lpstr>
      <vt:lpstr>Wingdings 3</vt:lpstr>
      <vt:lpstr>Ion</vt:lpstr>
      <vt:lpstr>Innovation in IT Shaped by African Culture</vt:lpstr>
      <vt:lpstr>Introduction</vt:lpstr>
      <vt:lpstr>Innovation: AI Systems for African Languages</vt:lpstr>
      <vt:lpstr>Cultural Influence</vt:lpstr>
      <vt:lpstr>Use Cases in Africa</vt:lpstr>
      <vt:lpstr>Benefits</vt:lpstr>
      <vt:lpstr>Challenges</vt:lpstr>
      <vt:lpstr>Future Directions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harun mwamunga</dc:creator>
  <cp:lastModifiedBy>harun mwamunga</cp:lastModifiedBy>
  <cp:revision>1</cp:revision>
  <dcterms:created xsi:type="dcterms:W3CDTF">2025-12-01T18:04:46Z</dcterms:created>
  <dcterms:modified xsi:type="dcterms:W3CDTF">2025-12-01T18:21:24Z</dcterms:modified>
</cp:coreProperties>
</file>