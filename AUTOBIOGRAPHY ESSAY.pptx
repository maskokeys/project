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2880860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3005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3135398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B267B6-89F9-47FA-A56D-415DA6B3834B}" type="datetimeFigureOut">
              <a:rPr lang="en-US" smtClean="0"/>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156902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B267B6-89F9-47FA-A56D-415DA6B3834B}" type="datetimeFigureOut">
              <a:rPr lang="en-US" smtClean="0"/>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878911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B267B6-89F9-47FA-A56D-415DA6B3834B}" type="datetimeFigureOut">
              <a:rPr lang="en-US" smtClean="0"/>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46114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267B6-89F9-47FA-A56D-415DA6B3834B}" type="datetimeFigureOut">
              <a:rPr lang="en-US" smtClean="0"/>
              <a:t>9/28/2025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1955467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B267B6-89F9-47FA-A56D-415DA6B3834B}" type="datetimeFigureOut">
              <a:rPr lang="en-US" smtClean="0"/>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2866023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B267B6-89F9-47FA-A56D-415DA6B3834B}" type="datetimeFigureOut">
              <a:rPr lang="en-US" smtClean="0"/>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425957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2243626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5496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3644889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5015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1602493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2321948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B267B6-89F9-47FA-A56D-415DA6B3834B}"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07C11-4E6B-4675-950F-62B3DC35AFEF}" type="slidenum">
              <a:rPr lang="en-US" smtClean="0"/>
              <a:t>‹#›</a:t>
            </a:fld>
            <a:endParaRPr lang="en-US"/>
          </a:p>
        </p:txBody>
      </p:sp>
    </p:spTree>
    <p:extLst>
      <p:ext uri="{BB962C8B-B14F-4D97-AF65-F5344CB8AC3E}">
        <p14:creationId xmlns:p14="http://schemas.microsoft.com/office/powerpoint/2010/main" val="1313761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9B267B6-89F9-47FA-A56D-415DA6B3834B}" type="datetimeFigureOut">
              <a:rPr lang="en-US" smtClean="0"/>
              <a:t>9/28/2025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607C11-4E6B-4675-950F-62B3DC35AFEF}" type="slidenum">
              <a:rPr lang="en-US" smtClean="0"/>
              <a:t>‹#›</a:t>
            </a:fld>
            <a:endParaRPr lang="en-US"/>
          </a:p>
        </p:txBody>
      </p:sp>
    </p:spTree>
    <p:extLst>
      <p:ext uri="{BB962C8B-B14F-4D97-AF65-F5344CB8AC3E}">
        <p14:creationId xmlns:p14="http://schemas.microsoft.com/office/powerpoint/2010/main" val="4251759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EEC7-CBAC-2DC6-4AC1-6188BBA57CE1}"/>
              </a:ext>
            </a:extLst>
          </p:cNvPr>
          <p:cNvSpPr>
            <a:spLocks noGrp="1"/>
          </p:cNvSpPr>
          <p:nvPr>
            <p:ph type="ctrTitle"/>
          </p:nvPr>
        </p:nvSpPr>
        <p:spPr/>
        <p:txBody>
          <a:bodyPr/>
          <a:lstStyle/>
          <a:p>
            <a:r>
              <a:rPr lang="en-US" dirty="0"/>
              <a:t>AUTOBIOGRAPHY ESSAY</a:t>
            </a:r>
          </a:p>
        </p:txBody>
      </p:sp>
      <p:sp>
        <p:nvSpPr>
          <p:cNvPr id="3" name="Subtitle 2">
            <a:extLst>
              <a:ext uri="{FF2B5EF4-FFF2-40B4-BE49-F238E27FC236}">
                <a16:creationId xmlns:a16="http://schemas.microsoft.com/office/drawing/2014/main" id="{F29BE728-A21E-9B72-1D9E-B95EFA1734E6}"/>
              </a:ext>
            </a:extLst>
          </p:cNvPr>
          <p:cNvSpPr>
            <a:spLocks noGrp="1"/>
          </p:cNvSpPr>
          <p:nvPr>
            <p:ph type="subTitle" idx="1"/>
          </p:nvPr>
        </p:nvSpPr>
        <p:spPr/>
        <p:txBody>
          <a:bodyPr>
            <a:normAutofit lnSpcReduction="10000"/>
          </a:bodyPr>
          <a:lstStyle/>
          <a:p>
            <a:r>
              <a:rPr lang="en-US" dirty="0"/>
              <a:t>BY:</a:t>
            </a:r>
          </a:p>
          <a:p>
            <a:r>
              <a:rPr lang="en-US" dirty="0"/>
              <a:t>HARUN MNJAU MWAMUNGA</a:t>
            </a:r>
          </a:p>
          <a:p>
            <a:r>
              <a:rPr lang="en-US" dirty="0"/>
              <a:t>CO25-01-0817/2022</a:t>
            </a:r>
          </a:p>
        </p:txBody>
      </p:sp>
    </p:spTree>
    <p:extLst>
      <p:ext uri="{BB962C8B-B14F-4D97-AF65-F5344CB8AC3E}">
        <p14:creationId xmlns:p14="http://schemas.microsoft.com/office/powerpoint/2010/main" val="283956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9A46D-701C-9C8C-253C-D0E7F785C63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A2FC418-6F3E-AEBB-8901-BCFE9BCD142B}"/>
              </a:ext>
            </a:extLst>
          </p:cNvPr>
          <p:cNvSpPr>
            <a:spLocks noGrp="1"/>
          </p:cNvSpPr>
          <p:nvPr>
            <p:ph idx="1"/>
          </p:nvPr>
        </p:nvSpPr>
        <p:spPr>
          <a:xfrm>
            <a:off x="677334" y="1785835"/>
            <a:ext cx="8596668" cy="3880773"/>
          </a:xfrm>
        </p:spPr>
        <p:txBody>
          <a:bodyPr/>
          <a:lstStyle/>
          <a:p>
            <a:r>
              <a:rPr lang="en-US" dirty="0"/>
              <a:t>My life story begins with a simple yet powerful proverb my mother often repeated: </a:t>
            </a:r>
            <a:r>
              <a:rPr lang="en-US" i="1" dirty="0"/>
              <a:t>“</a:t>
            </a:r>
            <a:r>
              <a:rPr lang="en-US" i="1" dirty="0" err="1"/>
              <a:t>Elimu</a:t>
            </a:r>
            <a:r>
              <a:rPr lang="en-US" i="1" dirty="0"/>
              <a:t> </a:t>
            </a:r>
            <a:r>
              <a:rPr lang="en-US" i="1" dirty="0" err="1"/>
              <a:t>ni</a:t>
            </a:r>
            <a:r>
              <a:rPr lang="en-US" i="1" dirty="0"/>
              <a:t> </a:t>
            </a:r>
            <a:r>
              <a:rPr lang="en-US" i="1" dirty="0" err="1"/>
              <a:t>taa</a:t>
            </a:r>
            <a:r>
              <a:rPr lang="en-US" i="1" dirty="0"/>
              <a:t> </a:t>
            </a:r>
            <a:r>
              <a:rPr lang="en-US" i="1" dirty="0" err="1"/>
              <a:t>ya</a:t>
            </a:r>
            <a:r>
              <a:rPr lang="en-US" i="1" dirty="0"/>
              <a:t> </a:t>
            </a:r>
            <a:r>
              <a:rPr lang="en-US" i="1" dirty="0" err="1"/>
              <a:t>maisha</a:t>
            </a:r>
            <a:r>
              <a:rPr lang="en-US" i="1" dirty="0"/>
              <a:t>,”</a:t>
            </a:r>
            <a:r>
              <a:rPr lang="en-US" dirty="0"/>
              <a:t> which means </a:t>
            </a:r>
            <a:r>
              <a:rPr lang="en-US" i="1" dirty="0"/>
              <a:t>“Education is the light of life.”</a:t>
            </a:r>
            <a:r>
              <a:rPr lang="en-US" dirty="0"/>
              <a:t> These words were more than just a saying in our home—they became the foundation of how we viewed the world and approached every challenge.</a:t>
            </a:r>
          </a:p>
          <a:p>
            <a:r>
              <a:rPr lang="en-US" dirty="0"/>
              <a:t>I was born in the vibrant coastal city of Mombasa, Kenya, a place known for its cultural diversity, warm beaches, and the ever-present hum of life from the busy streets. Growing up here exposed me to a mix of traditions, languages, and experiences that shaped my outlook from an early age.</a:t>
            </a:r>
          </a:p>
          <a:p>
            <a:r>
              <a:rPr lang="en-US" dirty="0"/>
              <a:t>I come from a family of four, where every member played a unique role in my upbringing. From my earliest years, values like education, discipline, and respect were emphasized both in words and actions.</a:t>
            </a:r>
          </a:p>
        </p:txBody>
      </p:sp>
    </p:spTree>
    <p:extLst>
      <p:ext uri="{BB962C8B-B14F-4D97-AF65-F5344CB8AC3E}">
        <p14:creationId xmlns:p14="http://schemas.microsoft.com/office/powerpoint/2010/main" val="349814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A75B5-E835-3772-BA09-B4C9D3F0752A}"/>
              </a:ext>
            </a:extLst>
          </p:cNvPr>
          <p:cNvSpPr>
            <a:spLocks noGrp="1"/>
          </p:cNvSpPr>
          <p:nvPr>
            <p:ph type="title"/>
          </p:nvPr>
        </p:nvSpPr>
        <p:spPr/>
        <p:txBody>
          <a:bodyPr/>
          <a:lstStyle/>
          <a:p>
            <a:r>
              <a:rPr lang="en-US" dirty="0"/>
              <a:t>Early Childhood</a:t>
            </a:r>
          </a:p>
        </p:txBody>
      </p:sp>
      <p:sp>
        <p:nvSpPr>
          <p:cNvPr id="3" name="Content Placeholder 2">
            <a:extLst>
              <a:ext uri="{FF2B5EF4-FFF2-40B4-BE49-F238E27FC236}">
                <a16:creationId xmlns:a16="http://schemas.microsoft.com/office/drawing/2014/main" id="{5BEEBA1A-8E09-1DFB-9392-43C785F05C85}"/>
              </a:ext>
            </a:extLst>
          </p:cNvPr>
          <p:cNvSpPr>
            <a:spLocks noGrp="1"/>
          </p:cNvSpPr>
          <p:nvPr>
            <p:ph idx="1"/>
          </p:nvPr>
        </p:nvSpPr>
        <p:spPr/>
        <p:txBody>
          <a:bodyPr/>
          <a:lstStyle/>
          <a:p>
            <a:r>
              <a:rPr lang="en-US" dirty="0"/>
              <a:t>I grew up in a simple but loving home where family bonds were unshakable and traditions brought warmth to our daily lives. Evenings were filled with laughter over shared meals, and weekends often carried the aroma of special family recipes passed down through generations. My early education began at Mary Joy Kindergarten, a cheerful place where colorful classrooms and patient teachers made learning feel like an adventure. I discovered the joy of reciting songs, listening to stories, and painting my first letters with crayons. Life was brightened by cultural celebrations like weddings and festivals, as well as close neighborhood friendships that turned every game into a memory. Through it all, my parents emphasized discipline, respect, and honesty—values that became the backbone of my character and shaped the person I was becoming.</a:t>
            </a:r>
          </a:p>
        </p:txBody>
      </p:sp>
    </p:spTree>
    <p:extLst>
      <p:ext uri="{BB962C8B-B14F-4D97-AF65-F5344CB8AC3E}">
        <p14:creationId xmlns:p14="http://schemas.microsoft.com/office/powerpoint/2010/main" val="1613890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07380-2A4F-FB4E-ECB7-E32983D87C0B}"/>
              </a:ext>
            </a:extLst>
          </p:cNvPr>
          <p:cNvSpPr>
            <a:spLocks noGrp="1"/>
          </p:cNvSpPr>
          <p:nvPr>
            <p:ph type="title"/>
          </p:nvPr>
        </p:nvSpPr>
        <p:spPr/>
        <p:txBody>
          <a:bodyPr/>
          <a:lstStyle/>
          <a:p>
            <a:r>
              <a:rPr lang="en-US" dirty="0"/>
              <a:t>Primary school years</a:t>
            </a:r>
          </a:p>
        </p:txBody>
      </p:sp>
      <p:sp>
        <p:nvSpPr>
          <p:cNvPr id="3" name="Content Placeholder 2">
            <a:extLst>
              <a:ext uri="{FF2B5EF4-FFF2-40B4-BE49-F238E27FC236}">
                <a16:creationId xmlns:a16="http://schemas.microsoft.com/office/drawing/2014/main" id="{4542357D-BDFE-6B71-0A63-CC7B63E76F55}"/>
              </a:ext>
            </a:extLst>
          </p:cNvPr>
          <p:cNvSpPr>
            <a:spLocks noGrp="1"/>
          </p:cNvSpPr>
          <p:nvPr>
            <p:ph idx="1"/>
          </p:nvPr>
        </p:nvSpPr>
        <p:spPr/>
        <p:txBody>
          <a:bodyPr>
            <a:normAutofit lnSpcReduction="10000"/>
          </a:bodyPr>
          <a:lstStyle/>
          <a:p>
            <a:r>
              <a:rPr lang="en-US" dirty="0"/>
              <a:t>The transition from kindergarten to primary school marked the beginning of a more structured learning journey for me. I still remember my first day, dressed in a brand-new uniform and clutching my small schoolbag, both nervous and excited about what lay ahead.</a:t>
            </a:r>
          </a:p>
          <a:p>
            <a:r>
              <a:rPr lang="en-US" dirty="0"/>
              <a:t> Among the many teachers I met, a few stood out for their kindness and dedication. My English teacher, for example, had a way of turning grammar lessons into lively storytelling sessions, while my Mathematics teacher taught with such patience that even the most difficult sums seemed manageable. These subjects quickly became my favorites because they challenged my thinking and sparked my imagination.</a:t>
            </a:r>
          </a:p>
          <a:p>
            <a:r>
              <a:rPr lang="en-US" dirty="0"/>
              <a:t>When I finally earned my first academic award for topping the class, the pride on my parents’ faces was unforgettable. That small victory became a turning point, boosting my confidence and proving that with effort and persistence, I could overcome any obstacle that came my way.</a:t>
            </a:r>
          </a:p>
        </p:txBody>
      </p:sp>
    </p:spTree>
    <p:extLst>
      <p:ext uri="{BB962C8B-B14F-4D97-AF65-F5344CB8AC3E}">
        <p14:creationId xmlns:p14="http://schemas.microsoft.com/office/powerpoint/2010/main" val="228126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8AF3-62F0-7022-1019-214FECB285EF}"/>
              </a:ext>
            </a:extLst>
          </p:cNvPr>
          <p:cNvSpPr>
            <a:spLocks noGrp="1"/>
          </p:cNvSpPr>
          <p:nvPr>
            <p:ph type="title"/>
          </p:nvPr>
        </p:nvSpPr>
        <p:spPr/>
        <p:txBody>
          <a:bodyPr/>
          <a:lstStyle/>
          <a:p>
            <a:r>
              <a:rPr lang="en-US" dirty="0"/>
              <a:t>High school years</a:t>
            </a:r>
          </a:p>
        </p:txBody>
      </p:sp>
      <p:sp>
        <p:nvSpPr>
          <p:cNvPr id="3" name="Content Placeholder 2">
            <a:extLst>
              <a:ext uri="{FF2B5EF4-FFF2-40B4-BE49-F238E27FC236}">
                <a16:creationId xmlns:a16="http://schemas.microsoft.com/office/drawing/2014/main" id="{999A07A6-9DCA-62BD-516C-E8181EED8184}"/>
              </a:ext>
            </a:extLst>
          </p:cNvPr>
          <p:cNvSpPr>
            <a:spLocks noGrp="1"/>
          </p:cNvSpPr>
          <p:nvPr>
            <p:ph idx="1"/>
          </p:nvPr>
        </p:nvSpPr>
        <p:spPr/>
        <p:txBody>
          <a:bodyPr>
            <a:normAutofit fontScale="92500" lnSpcReduction="20000"/>
          </a:bodyPr>
          <a:lstStyle/>
          <a:p>
            <a:r>
              <a:rPr lang="en-US" dirty="0"/>
              <a:t>After completing primary school, I was admitted to </a:t>
            </a:r>
            <a:r>
              <a:rPr lang="en-US" dirty="0" err="1"/>
              <a:t>Kerugoya</a:t>
            </a:r>
            <a:r>
              <a:rPr lang="en-US" dirty="0"/>
              <a:t> Boys High School, a well-known institution with a reputation for discipline and academic excellence. The move from home to boarding school life was a major transition—suddenly, I had to adjust to strict routines, early morning bells, communal living, and a world where independence and responsibility were no longer optional but necessary.</a:t>
            </a:r>
          </a:p>
          <a:p>
            <a:r>
              <a:rPr lang="en-US" sz="1900" dirty="0"/>
              <a:t>Academics became more demanding, but it was here that I discovered a keen interest in Information Technology subjects. I was fascinated by computers and how they could solve problems and connect people across the world. This curiosity eventually shaped many of my future ambitions and career interests.</a:t>
            </a:r>
          </a:p>
          <a:p>
            <a:r>
              <a:rPr lang="en-US" sz="1900" dirty="0"/>
              <a:t>Outside the classroom, I found joy and balance in sports, especially hockey. The school’s hockey team became my second family, teaching me teamwork, perseverance, and the thrill of competition. Participating in matches and representing the school filled me with pride and gave me the confidence to step into leadership roles. I was later entrusted with responsibilities like mentoring junior students and organizing school events—roles that helped me develop communication and decision-making skills</a:t>
            </a:r>
            <a:r>
              <a:rPr lang="en-US" dirty="0"/>
              <a:t>.</a:t>
            </a:r>
          </a:p>
          <a:p>
            <a:endParaRPr lang="en-US" dirty="0"/>
          </a:p>
        </p:txBody>
      </p:sp>
    </p:spTree>
    <p:extLst>
      <p:ext uri="{BB962C8B-B14F-4D97-AF65-F5344CB8AC3E}">
        <p14:creationId xmlns:p14="http://schemas.microsoft.com/office/powerpoint/2010/main" val="1303085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1059C-3E4E-16B3-C6F0-C08DC5E38779}"/>
              </a:ext>
            </a:extLst>
          </p:cNvPr>
          <p:cNvSpPr>
            <a:spLocks noGrp="1"/>
          </p:cNvSpPr>
          <p:nvPr>
            <p:ph type="title"/>
          </p:nvPr>
        </p:nvSpPr>
        <p:spPr/>
        <p:txBody>
          <a:bodyPr/>
          <a:lstStyle/>
          <a:p>
            <a:r>
              <a:rPr lang="en-US" dirty="0"/>
              <a:t>Turning Points</a:t>
            </a:r>
          </a:p>
        </p:txBody>
      </p:sp>
      <p:sp>
        <p:nvSpPr>
          <p:cNvPr id="3" name="Content Placeholder 2">
            <a:extLst>
              <a:ext uri="{FF2B5EF4-FFF2-40B4-BE49-F238E27FC236}">
                <a16:creationId xmlns:a16="http://schemas.microsoft.com/office/drawing/2014/main" id="{03893452-E21E-053A-F9D0-01FD237A32F1}"/>
              </a:ext>
            </a:extLst>
          </p:cNvPr>
          <p:cNvSpPr>
            <a:spLocks noGrp="1"/>
          </p:cNvSpPr>
          <p:nvPr>
            <p:ph idx="1"/>
          </p:nvPr>
        </p:nvSpPr>
        <p:spPr/>
        <p:txBody>
          <a:bodyPr>
            <a:normAutofit lnSpcReduction="10000"/>
          </a:bodyPr>
          <a:lstStyle/>
          <a:p>
            <a:r>
              <a:rPr lang="en-US" dirty="0"/>
              <a:t>During my academic journey, there were times when the workload felt overwhelming, especially as subjects grew more complex and exams became more competitive. Yet, each time I pushed through and achieved success, whether it was topping a class or mastering a difficult concept, my confidence grew. These victories reminded me that persistence always pays off.</a:t>
            </a:r>
          </a:p>
          <a:p>
            <a:r>
              <a:rPr lang="en-US" dirty="0"/>
              <a:t>Along the way, I was fortunate to meet mentors—teachers and older students—who believed in me even when I doubted myself. They offered advice, encouragement, and sometimes tough love, teaching me valuable lessons about discipline, humility, and the importance of focus.</a:t>
            </a:r>
          </a:p>
          <a:p>
            <a:r>
              <a:rPr lang="en-US" dirty="0"/>
              <a:t>Through these experiences, I came to a powerful realization: hard work and focus could change the course of my life. No matter the obstacles, staying committed and believing in my abilities became the driving force behind every decision I made from that point forward.</a:t>
            </a:r>
          </a:p>
        </p:txBody>
      </p:sp>
    </p:spTree>
    <p:extLst>
      <p:ext uri="{BB962C8B-B14F-4D97-AF65-F5344CB8AC3E}">
        <p14:creationId xmlns:p14="http://schemas.microsoft.com/office/powerpoint/2010/main" val="756377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7C555-6712-6A9A-917A-F4BC3868371F}"/>
              </a:ext>
            </a:extLst>
          </p:cNvPr>
          <p:cNvSpPr>
            <a:spLocks noGrp="1"/>
          </p:cNvSpPr>
          <p:nvPr>
            <p:ph type="title"/>
          </p:nvPr>
        </p:nvSpPr>
        <p:spPr/>
        <p:txBody>
          <a:bodyPr/>
          <a:lstStyle/>
          <a:p>
            <a:r>
              <a:rPr lang="en-US" dirty="0"/>
              <a:t>Higher Education </a:t>
            </a:r>
            <a:r>
              <a:rPr lang="en-US" dirty="0" err="1"/>
              <a:t>Beginings</a:t>
            </a:r>
            <a:endParaRPr lang="en-US" dirty="0"/>
          </a:p>
        </p:txBody>
      </p:sp>
      <p:sp>
        <p:nvSpPr>
          <p:cNvPr id="3" name="Content Placeholder 2">
            <a:extLst>
              <a:ext uri="{FF2B5EF4-FFF2-40B4-BE49-F238E27FC236}">
                <a16:creationId xmlns:a16="http://schemas.microsoft.com/office/drawing/2014/main" id="{DCF23804-555F-DA64-D8DA-D799E1A806CC}"/>
              </a:ext>
            </a:extLst>
          </p:cNvPr>
          <p:cNvSpPr>
            <a:spLocks noGrp="1"/>
          </p:cNvSpPr>
          <p:nvPr>
            <p:ph idx="1"/>
          </p:nvPr>
        </p:nvSpPr>
        <p:spPr/>
        <p:txBody>
          <a:bodyPr/>
          <a:lstStyle/>
          <a:p>
            <a:r>
              <a:rPr lang="en-US" dirty="0"/>
              <a:t>The transition to college life marked a new chapter filled with freedom, responsibility, and bigger dreams. Leaving the structured environment of high school behind, I stepped into higher education eager to explore new opportunities, meet people from diverse backgrounds, and shape my career path. The academic workload was heavier, but I was determined to give my best and build a strong foundation for the future.</a:t>
            </a:r>
          </a:p>
          <a:p>
            <a:r>
              <a:rPr lang="en-US" dirty="0"/>
              <a:t>One of the most memorable experiences during this time was my industrial</a:t>
            </a:r>
            <a:r>
              <a:rPr lang="en-US" b="1" dirty="0"/>
              <a:t> </a:t>
            </a:r>
            <a:r>
              <a:rPr lang="en-US" dirty="0"/>
              <a:t>attachment at the Kenya Power and Lighting Company (KPLC). It was my first time working in a professional environment, and I was both excited and nervous. The first few days were overwhelming as I tried to adjust to real-world expectations after years of classroom learning.</a:t>
            </a:r>
          </a:p>
        </p:txBody>
      </p:sp>
    </p:spTree>
    <p:extLst>
      <p:ext uri="{BB962C8B-B14F-4D97-AF65-F5344CB8AC3E}">
        <p14:creationId xmlns:p14="http://schemas.microsoft.com/office/powerpoint/2010/main" val="1753870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CC1A9-45CD-A45A-9C72-621169829125}"/>
              </a:ext>
            </a:extLst>
          </p:cNvPr>
          <p:cNvSpPr>
            <a:spLocks noGrp="1"/>
          </p:cNvSpPr>
          <p:nvPr>
            <p:ph type="title"/>
          </p:nvPr>
        </p:nvSpPr>
        <p:spPr/>
        <p:txBody>
          <a:bodyPr/>
          <a:lstStyle/>
          <a:p>
            <a:r>
              <a:rPr lang="en-US" dirty="0"/>
              <a:t>Achievements</a:t>
            </a:r>
          </a:p>
        </p:txBody>
      </p:sp>
      <p:sp>
        <p:nvSpPr>
          <p:cNvPr id="3" name="Content Placeholder 2">
            <a:extLst>
              <a:ext uri="{FF2B5EF4-FFF2-40B4-BE49-F238E27FC236}">
                <a16:creationId xmlns:a16="http://schemas.microsoft.com/office/drawing/2014/main" id="{B0CB82FF-FA30-D9D8-DCD0-CCC5CBA1B113}"/>
              </a:ext>
            </a:extLst>
          </p:cNvPr>
          <p:cNvSpPr>
            <a:spLocks noGrp="1"/>
          </p:cNvSpPr>
          <p:nvPr>
            <p:ph idx="1"/>
          </p:nvPr>
        </p:nvSpPr>
        <p:spPr/>
        <p:txBody>
          <a:bodyPr/>
          <a:lstStyle/>
          <a:p>
            <a:r>
              <a:rPr lang="en-US" dirty="0"/>
              <a:t>Today, my life reflects the journey of learning, challenges, and growth that began many years ago. My focus has shifted toward Information Technology education and personal projects that allow me to apply the knowledge and skills I’ve gained along the way. I have spent countless hours learning coding, system development, and technology solutions, gradually building confidence in solving real-world problems through innovation and creativity.</a:t>
            </a:r>
          </a:p>
          <a:p>
            <a:r>
              <a:rPr lang="en-US" dirty="0"/>
              <a:t>Alongside academics, I have achieved several milestones that remind me how far I have come. From successfully completing demanding coursework to participating in technology competitions and presenting group projects, each achievement has sharpened my skills and shaped my character. My dedication has also extended to extracurricular activities, where leadership roles and teamwork experiences have enriched my learning beyond the classroom.</a:t>
            </a:r>
          </a:p>
        </p:txBody>
      </p:sp>
    </p:spTree>
    <p:extLst>
      <p:ext uri="{BB962C8B-B14F-4D97-AF65-F5344CB8AC3E}">
        <p14:creationId xmlns:p14="http://schemas.microsoft.com/office/powerpoint/2010/main" val="127748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318C-5B1C-2A56-BA32-8A9C1D00F0D5}"/>
              </a:ext>
            </a:extLst>
          </p:cNvPr>
          <p:cNvSpPr>
            <a:spLocks noGrp="1"/>
          </p:cNvSpPr>
          <p:nvPr>
            <p:ph type="title"/>
          </p:nvPr>
        </p:nvSpPr>
        <p:spPr/>
        <p:txBody>
          <a:bodyPr/>
          <a:lstStyle/>
          <a:p>
            <a:r>
              <a:rPr lang="en-US" dirty="0"/>
              <a:t>Aspirations</a:t>
            </a:r>
          </a:p>
        </p:txBody>
      </p:sp>
      <p:sp>
        <p:nvSpPr>
          <p:cNvPr id="3" name="Content Placeholder 2">
            <a:extLst>
              <a:ext uri="{FF2B5EF4-FFF2-40B4-BE49-F238E27FC236}">
                <a16:creationId xmlns:a16="http://schemas.microsoft.com/office/drawing/2014/main" id="{930624DC-45C4-0B0F-E3A4-9B21B46DF714}"/>
              </a:ext>
            </a:extLst>
          </p:cNvPr>
          <p:cNvSpPr>
            <a:spLocks noGrp="1"/>
          </p:cNvSpPr>
          <p:nvPr>
            <p:ph idx="1"/>
          </p:nvPr>
        </p:nvSpPr>
        <p:spPr/>
        <p:txBody>
          <a:bodyPr/>
          <a:lstStyle/>
          <a:p>
            <a:r>
              <a:rPr lang="en-US" dirty="0"/>
              <a:t>As I look ahead, my dreams and ambitions continue to grow, fueled by the experiences and lessons from my past. My career dream is to become a leading IT innovator and systems developer, creating technology solutions that address real challenges in education, business, and community development. I envision designing systems that not only simplify processes but also improve lives and open doors for others the way education has opened doors for me.</a:t>
            </a:r>
          </a:p>
          <a:p>
            <a:r>
              <a:rPr lang="en-US" dirty="0"/>
              <a:t>On a personal level, I aim to pursue higher education to deepen my expertise and keep pace with the rapidly evolving world of technology. I also dream of traveling to experience different cultures, learn from diverse perspectives, and bring back ideas that can be adapted to my community. Another key aspiration is mentorship—to guide young students the way my mentors guided me, helping them believe in their potential and pursue their dreams.</a:t>
            </a:r>
          </a:p>
          <a:p>
            <a:endParaRPr lang="en-US" dirty="0"/>
          </a:p>
        </p:txBody>
      </p:sp>
    </p:spTree>
    <p:extLst>
      <p:ext uri="{BB962C8B-B14F-4D97-AF65-F5344CB8AC3E}">
        <p14:creationId xmlns:p14="http://schemas.microsoft.com/office/powerpoint/2010/main" val="3684084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44E60-DDAD-1A98-AC00-B816DC908C9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0CB2757-6858-FD01-24C9-71590CF0EA53}"/>
              </a:ext>
            </a:extLst>
          </p:cNvPr>
          <p:cNvSpPr>
            <a:spLocks noGrp="1"/>
          </p:cNvSpPr>
          <p:nvPr>
            <p:ph idx="1"/>
          </p:nvPr>
        </p:nvSpPr>
        <p:spPr/>
        <p:txBody>
          <a:bodyPr/>
          <a:lstStyle/>
          <a:p>
            <a:r>
              <a:rPr lang="en-US" dirty="0"/>
              <a:t>At the heart of it all are the key principles that have guided me: resilience in the face of obstacles, education as the tool for transformation, and self</a:t>
            </a:r>
            <a:r>
              <a:rPr lang="en-US" b="1" dirty="0"/>
              <a:t>-</a:t>
            </a:r>
            <a:r>
              <a:rPr lang="en-US" dirty="0"/>
              <a:t>improvement as a lifelong pursuit. These values have kept me moving forward even when the path seemed uncertain.</a:t>
            </a:r>
          </a:p>
          <a:p>
            <a:r>
              <a:rPr lang="en-US" dirty="0"/>
              <a:t>I am filled with gratitude—to my family for their sacrifices, my teachers and mentors for their guidance, and every experience, both good and bad, that shaped my character and ambitions. Without these people and moments, I would not be who I am today.</a:t>
            </a:r>
          </a:p>
          <a:p>
            <a:r>
              <a:rPr lang="en-US" dirty="0"/>
              <a:t>As I look to the future, I carry a hopeful belief that through dedication and innovation, I can make a positive impact on my community and beyond. My journey is far from over, but with the lessons I have learned and the dreams I hold, I am ready to embrace the future with determination and optimism.</a:t>
            </a:r>
          </a:p>
        </p:txBody>
      </p:sp>
    </p:spTree>
    <p:extLst>
      <p:ext uri="{BB962C8B-B14F-4D97-AF65-F5344CB8AC3E}">
        <p14:creationId xmlns:p14="http://schemas.microsoft.com/office/powerpoint/2010/main" val="21024817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34</TotalTime>
  <Words>1466</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AUTOBIOGRAPHY ESSAY</vt:lpstr>
      <vt:lpstr>Introduction</vt:lpstr>
      <vt:lpstr>Early Childhood</vt:lpstr>
      <vt:lpstr>Primary school years</vt:lpstr>
      <vt:lpstr>High school years</vt:lpstr>
      <vt:lpstr>Turning Points</vt:lpstr>
      <vt:lpstr>Higher Education Beginings</vt:lpstr>
      <vt:lpstr>Achievements</vt:lpstr>
      <vt:lpstr>Aspirations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harun mwamunga</dc:creator>
  <cp:lastModifiedBy>harun mwamunga</cp:lastModifiedBy>
  <cp:revision>1</cp:revision>
  <dcterms:created xsi:type="dcterms:W3CDTF">2025-09-28T15:51:57Z</dcterms:created>
  <dcterms:modified xsi:type="dcterms:W3CDTF">2025-09-28T16:26:37Z</dcterms:modified>
</cp:coreProperties>
</file>