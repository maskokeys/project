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65A4590-5907-4785-9EC5-FB06CB01B195}" type="datetimeFigureOut">
              <a:rPr lang="en-US" smtClean="0"/>
              <a:t>11/26/2025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7B43984E-BAD7-4CC8-A645-2F9C106729CE}"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1537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5A4590-5907-4785-9EC5-FB06CB01B195}"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43984E-BAD7-4CC8-A645-2F9C106729CE}"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56454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5A4590-5907-4785-9EC5-FB06CB01B195}"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43984E-BAD7-4CC8-A645-2F9C106729CE}"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80796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65A4590-5907-4785-9EC5-FB06CB01B195}"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43984E-BAD7-4CC8-A645-2F9C106729CE}"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74036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65A4590-5907-4785-9EC5-FB06CB01B195}" type="datetimeFigureOut">
              <a:rPr lang="en-US" smtClean="0"/>
              <a:t>11/26/2025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43984E-BAD7-4CC8-A645-2F9C106729CE}"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63030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65A4590-5907-4785-9EC5-FB06CB01B195}" type="datetimeFigureOut">
              <a:rPr lang="en-US" smtClean="0"/>
              <a:t>11/26/2025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43984E-BAD7-4CC8-A645-2F9C106729CE}"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47610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5A4590-5907-4785-9EC5-FB06CB01B195}" type="datetimeFigureOut">
              <a:rPr lang="en-US" smtClean="0"/>
              <a:t>11/26/2025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B43984E-BAD7-4CC8-A645-2F9C106729CE}" type="slidenum">
              <a:rPr lang="en-US" smtClean="0"/>
              <a:t>‹#›</a:t>
            </a:fld>
            <a:endParaRPr lang="en-US"/>
          </a:p>
        </p:txBody>
      </p:sp>
    </p:spTree>
    <p:extLst>
      <p:ext uri="{BB962C8B-B14F-4D97-AF65-F5344CB8AC3E}">
        <p14:creationId xmlns:p14="http://schemas.microsoft.com/office/powerpoint/2010/main" val="1863287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5A4590-5907-4785-9EC5-FB06CB01B195}"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43984E-BAD7-4CC8-A645-2F9C106729CE}"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6316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065A4590-5907-4785-9EC5-FB06CB01B195}" type="datetimeFigureOut">
              <a:rPr lang="en-US" smtClean="0"/>
              <a:t>11/26/2025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7B43984E-BAD7-4CC8-A645-2F9C106729CE}"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09356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5A4590-5907-4785-9EC5-FB06CB01B195}"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43984E-BAD7-4CC8-A645-2F9C106729CE}"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75961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5A4590-5907-4785-9EC5-FB06CB01B195}"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43984E-BAD7-4CC8-A645-2F9C106729CE}"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89825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065A4590-5907-4785-9EC5-FB06CB01B195}" type="datetimeFigureOut">
              <a:rPr lang="en-US" smtClean="0"/>
              <a:t>11/26/2025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7B43984E-BAD7-4CC8-A645-2F9C106729CE}"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01402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DED0F-01B6-BA7A-3553-C2B4264F8FD6}"/>
              </a:ext>
            </a:extLst>
          </p:cNvPr>
          <p:cNvSpPr>
            <a:spLocks noGrp="1"/>
          </p:cNvSpPr>
          <p:nvPr>
            <p:ph type="ctrTitle"/>
          </p:nvPr>
        </p:nvSpPr>
        <p:spPr/>
        <p:txBody>
          <a:bodyPr>
            <a:normAutofit/>
          </a:bodyPr>
          <a:lstStyle/>
          <a:p>
            <a:r>
              <a:rPr lang="en-US" sz="4000" dirty="0"/>
              <a:t>The Role of African Culture in Shaping Artificial Intelligence</a:t>
            </a:r>
          </a:p>
        </p:txBody>
      </p:sp>
      <p:sp>
        <p:nvSpPr>
          <p:cNvPr id="3" name="Subtitle 2">
            <a:extLst>
              <a:ext uri="{FF2B5EF4-FFF2-40B4-BE49-F238E27FC236}">
                <a16:creationId xmlns:a16="http://schemas.microsoft.com/office/drawing/2014/main" id="{BA0470AE-62EB-2FB0-300A-C2BEA03D3353}"/>
              </a:ext>
            </a:extLst>
          </p:cNvPr>
          <p:cNvSpPr>
            <a:spLocks noGrp="1"/>
          </p:cNvSpPr>
          <p:nvPr>
            <p:ph type="subTitle" idx="1"/>
          </p:nvPr>
        </p:nvSpPr>
        <p:spPr/>
        <p:txBody>
          <a:bodyPr/>
          <a:lstStyle/>
          <a:p>
            <a:r>
              <a:rPr lang="en-US" dirty="0"/>
              <a:t>BY: HARUN MNJAU MWAMUNGA</a:t>
            </a:r>
          </a:p>
          <a:p>
            <a:r>
              <a:rPr lang="en-US" dirty="0"/>
              <a:t>C025-01-0817/2022</a:t>
            </a:r>
          </a:p>
        </p:txBody>
      </p:sp>
    </p:spTree>
    <p:extLst>
      <p:ext uri="{BB962C8B-B14F-4D97-AF65-F5344CB8AC3E}">
        <p14:creationId xmlns:p14="http://schemas.microsoft.com/office/powerpoint/2010/main" val="2147841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B3E16-D0A3-9EA7-E95B-5BD41AE79F07}"/>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FD6D7610-2D8C-97A4-85DA-7C20CC7D00A8}"/>
              </a:ext>
            </a:extLst>
          </p:cNvPr>
          <p:cNvSpPr>
            <a:spLocks noGrp="1"/>
          </p:cNvSpPr>
          <p:nvPr>
            <p:ph idx="1"/>
          </p:nvPr>
        </p:nvSpPr>
        <p:spPr/>
        <p:txBody>
          <a:bodyPr>
            <a:normAutofit fontScale="85000" lnSpcReduction="10000"/>
          </a:bodyPr>
          <a:lstStyle/>
          <a:p>
            <a:r>
              <a:rPr lang="en-US" dirty="0"/>
              <a:t>This study aims to explore how African cultural elements can influence the development and implementation of Artificial Intelligence technologies. It seeks to highlight the importance of culturally grounded AI, demonstrate how African philosophy and knowledge systems contribute to AI ethics and innovation, and examine the role of African languages in shaping NLP models. Ultimately, this chapter sets the foundation for understanding why AI cannot be fully effective in African contexts unless it is guided by African cultural values, perspectives, and lived experiences.</a:t>
            </a:r>
          </a:p>
          <a:p>
            <a:r>
              <a:rPr lang="en-US" dirty="0"/>
              <a:t>AI systems rely heavily on data, patterns, and human values to function effectively. However, most existing AI technologies are built using data and ethical frameworks that primarily reflect Western perspectives, often overlooking the lived realities and cultural viewpoints of other regions such as Africa. This imbalance has resulted in AI tools that sometimes fail to understand African languages, ignore indigenous knowledge, or misinterpret African social norms.</a:t>
            </a:r>
          </a:p>
        </p:txBody>
      </p:sp>
    </p:spTree>
    <p:extLst>
      <p:ext uri="{BB962C8B-B14F-4D97-AF65-F5344CB8AC3E}">
        <p14:creationId xmlns:p14="http://schemas.microsoft.com/office/powerpoint/2010/main" val="2053009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AEA62-ACEC-D653-E5B2-E44EFC2128ED}"/>
              </a:ext>
            </a:extLst>
          </p:cNvPr>
          <p:cNvSpPr>
            <a:spLocks noGrp="1"/>
          </p:cNvSpPr>
          <p:nvPr>
            <p:ph type="title"/>
          </p:nvPr>
        </p:nvSpPr>
        <p:spPr/>
        <p:txBody>
          <a:bodyPr/>
          <a:lstStyle/>
          <a:p>
            <a:r>
              <a:rPr lang="en-US" dirty="0"/>
              <a:t>Literature review</a:t>
            </a:r>
          </a:p>
        </p:txBody>
      </p:sp>
      <p:sp>
        <p:nvSpPr>
          <p:cNvPr id="3" name="Content Placeholder 2">
            <a:extLst>
              <a:ext uri="{FF2B5EF4-FFF2-40B4-BE49-F238E27FC236}">
                <a16:creationId xmlns:a16="http://schemas.microsoft.com/office/drawing/2014/main" id="{83569701-36B3-39FF-D1C2-1C9632B3CE69}"/>
              </a:ext>
            </a:extLst>
          </p:cNvPr>
          <p:cNvSpPr>
            <a:spLocks noGrp="1"/>
          </p:cNvSpPr>
          <p:nvPr>
            <p:ph idx="1"/>
          </p:nvPr>
        </p:nvSpPr>
        <p:spPr/>
        <p:txBody>
          <a:bodyPr>
            <a:normAutofit fontScale="77500" lnSpcReduction="20000"/>
          </a:bodyPr>
          <a:lstStyle/>
          <a:p>
            <a:r>
              <a:rPr lang="en-US" dirty="0"/>
              <a:t>This chapter reviews existing global research that explores how culture influences the development, fairness, and acceptance of Artificial Intelligence (AI). Scholars increasingly argue that AI must reflect diverse cultural values to avoid bias and ensure ethical decision-making. Studies on the African philosophy of </a:t>
            </a:r>
            <a:r>
              <a:rPr lang="en-US" i="1" dirty="0"/>
              <a:t>Ubuntu</a:t>
            </a:r>
            <a:r>
              <a:rPr lang="en-US" dirty="0"/>
              <a:t> emphasize its relevance to AI ethics, highlighting principles such as community well-being, fairness, and shared responsibility. These ideas offer alternative frameworks to Western-centric AI ethics and strengthen calls for more inclusive technological governance.</a:t>
            </a:r>
          </a:p>
          <a:p>
            <a:r>
              <a:rPr lang="en-US" dirty="0"/>
              <a:t>he chapter also examines research focused on African language technologies, particularly the work of the Masakhane NLP project, which aims to develop AI tools that support African languages and improve linguistic representation. Additionally, studies show that indigenous knowledge systems contribute valuable insights to digital innovation, especially in agriculture, health, and environmental management. Despite these developments, major gaps remain: AI research often overlooks African contexts, and there is limited literature centered specifically on African worldviews, languages, and cultural traditions. This gap underscores the need for more African-driven AI studies and culturally grounded technologies</a:t>
            </a:r>
          </a:p>
        </p:txBody>
      </p:sp>
    </p:spTree>
    <p:extLst>
      <p:ext uri="{BB962C8B-B14F-4D97-AF65-F5344CB8AC3E}">
        <p14:creationId xmlns:p14="http://schemas.microsoft.com/office/powerpoint/2010/main" val="1406152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7A21B-685A-40B5-7968-E86E38732AFA}"/>
              </a:ext>
            </a:extLst>
          </p:cNvPr>
          <p:cNvSpPr>
            <a:spLocks noGrp="1"/>
          </p:cNvSpPr>
          <p:nvPr>
            <p:ph type="title"/>
          </p:nvPr>
        </p:nvSpPr>
        <p:spPr/>
        <p:txBody>
          <a:bodyPr/>
          <a:lstStyle/>
          <a:p>
            <a:r>
              <a:rPr lang="en-US" dirty="0"/>
              <a:t>African Cultural Philosophies and Their Relevance to AI</a:t>
            </a:r>
          </a:p>
        </p:txBody>
      </p:sp>
      <p:sp>
        <p:nvSpPr>
          <p:cNvPr id="3" name="Content Placeholder 2">
            <a:extLst>
              <a:ext uri="{FF2B5EF4-FFF2-40B4-BE49-F238E27FC236}">
                <a16:creationId xmlns:a16="http://schemas.microsoft.com/office/drawing/2014/main" id="{F33546C4-B17F-E1BC-9137-88954C10C2B4}"/>
              </a:ext>
            </a:extLst>
          </p:cNvPr>
          <p:cNvSpPr>
            <a:spLocks noGrp="1"/>
          </p:cNvSpPr>
          <p:nvPr>
            <p:ph idx="1"/>
          </p:nvPr>
        </p:nvSpPr>
        <p:spPr/>
        <p:txBody>
          <a:bodyPr>
            <a:normAutofit fontScale="77500" lnSpcReduction="20000"/>
          </a:bodyPr>
          <a:lstStyle/>
          <a:p>
            <a:r>
              <a:rPr lang="en-US" dirty="0"/>
              <a:t>This chapter explores major African cultural philosophies and their relevance to the development of ethical and inclusive Artificial Intelligence (AI). Central to these philosophies is the concept of </a:t>
            </a:r>
            <a:r>
              <a:rPr lang="en-US" b="1" i="1" dirty="0"/>
              <a:t>Ubuntu</a:t>
            </a:r>
            <a:r>
              <a:rPr lang="en-US" b="1" dirty="0"/>
              <a:t>,</a:t>
            </a:r>
            <a:r>
              <a:rPr lang="en-US" dirty="0"/>
              <a:t> which emphasizes the interconnectedness of people through the idea “I am because we are.” Ubuntu promotes fairness, empathy, and mutual respect—values that closely align with modern ethical AI principles such as accountability, transparency, and the avoidance of bias. These cultural insights provide a strong foundation for designing AI systems that prioritize human dignity and social well-being.</a:t>
            </a:r>
          </a:p>
          <a:p>
            <a:r>
              <a:rPr lang="en-US" dirty="0"/>
              <a:t>In addition to Ubuntu, African communalism encourages collective decision-making and knowledge sharing, which are essential for responsible AI governance and community-driven data practices. African worldviews also emphasize respect for nature and holistic thinking, offering valuable approaches for environmental AI models and sustainable development technologies. Broader African ethical values such as responsibility, trust, and equity further reinforce global standards for safe and fair AI use. Together, these philosophical principles demonstrate that African culture offers meaningful guidance for building AI systems that are ethical, context-sensitive, and socially beneficial.</a:t>
            </a:r>
          </a:p>
        </p:txBody>
      </p:sp>
    </p:spTree>
    <p:extLst>
      <p:ext uri="{BB962C8B-B14F-4D97-AF65-F5344CB8AC3E}">
        <p14:creationId xmlns:p14="http://schemas.microsoft.com/office/powerpoint/2010/main" val="2851357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293B4-C058-E166-3CD5-9D99F15ADA35}"/>
              </a:ext>
            </a:extLst>
          </p:cNvPr>
          <p:cNvSpPr>
            <a:spLocks noGrp="1"/>
          </p:cNvSpPr>
          <p:nvPr>
            <p:ph type="title"/>
          </p:nvPr>
        </p:nvSpPr>
        <p:spPr/>
        <p:txBody>
          <a:bodyPr>
            <a:normAutofit fontScale="90000"/>
          </a:bodyPr>
          <a:lstStyle/>
          <a:p>
            <a:r>
              <a:rPr lang="en-US" dirty="0"/>
              <a:t>indigenous knowledge systems</a:t>
            </a:r>
            <a:r>
              <a:rPr lang="en-US" b="1" dirty="0"/>
              <a:t> </a:t>
            </a:r>
            <a:r>
              <a:rPr lang="en-US" dirty="0"/>
              <a:t>and ai innovation</a:t>
            </a:r>
            <a:br>
              <a:rPr lang="en-US" dirty="0"/>
            </a:br>
            <a:br>
              <a:rPr lang="en-US" b="1" dirty="0"/>
            </a:br>
            <a:endParaRPr lang="en-US" dirty="0"/>
          </a:p>
        </p:txBody>
      </p:sp>
      <p:sp>
        <p:nvSpPr>
          <p:cNvPr id="3" name="Content Placeholder 2">
            <a:extLst>
              <a:ext uri="{FF2B5EF4-FFF2-40B4-BE49-F238E27FC236}">
                <a16:creationId xmlns:a16="http://schemas.microsoft.com/office/drawing/2014/main" id="{D89E9B2F-5197-5806-26FF-BD5AD5A27232}"/>
              </a:ext>
            </a:extLst>
          </p:cNvPr>
          <p:cNvSpPr>
            <a:spLocks noGrp="1"/>
          </p:cNvSpPr>
          <p:nvPr>
            <p:ph idx="1"/>
          </p:nvPr>
        </p:nvSpPr>
        <p:spPr/>
        <p:txBody>
          <a:bodyPr>
            <a:normAutofit fontScale="77500" lnSpcReduction="20000"/>
          </a:bodyPr>
          <a:lstStyle/>
          <a:p>
            <a:r>
              <a:rPr lang="en-US" dirty="0"/>
              <a:t>This chapter examines how Indigenous Knowledge Systems (IKS) contribute to AI innovation by offering unique forms of data, structured wisdom, and culturally grounded problem-solving methods. African traditions such as oral storytelling, proverbs, and communal memory provide models for organizing information and understanding human behavior—insights that can be applied in AI for knowledge representation and natural language understanding. These cultural knowledge structures help AI interpret meaning, context, and relationships in ways that reflect real community experiences rather than abstract, Western-centric logic.</a:t>
            </a:r>
          </a:p>
          <a:p>
            <a:r>
              <a:rPr lang="en-US" dirty="0"/>
              <a:t>Indigenous knowledge also plays a practical role in improving AI applications across different sectors. Traditional agricultural practices provide valuable data that enhance AI crop disease prediction tools, while indigenous environmental indicators support the accuracy of climate prediction models. Similarly, local health practices and community-based medical knowledge supply culturally relevant datasets for training AI systems used in healthcare. Together, these contributions show that IKS not only preserves cultural heritage but also enriches AI with localized, context-aware intelligence that improves its effectiveness and relevance in African environments.</a:t>
            </a:r>
          </a:p>
        </p:txBody>
      </p:sp>
    </p:spTree>
    <p:extLst>
      <p:ext uri="{BB962C8B-B14F-4D97-AF65-F5344CB8AC3E}">
        <p14:creationId xmlns:p14="http://schemas.microsoft.com/office/powerpoint/2010/main" val="1702256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3B0EB-48FE-43AF-68A9-995D897F5C83}"/>
              </a:ext>
            </a:extLst>
          </p:cNvPr>
          <p:cNvSpPr>
            <a:spLocks noGrp="1"/>
          </p:cNvSpPr>
          <p:nvPr>
            <p:ph type="title"/>
          </p:nvPr>
        </p:nvSpPr>
        <p:spPr/>
        <p:txBody>
          <a:bodyPr/>
          <a:lstStyle/>
          <a:p>
            <a:r>
              <a:rPr lang="en-US" dirty="0"/>
              <a:t>African languages and natural language processing</a:t>
            </a:r>
          </a:p>
        </p:txBody>
      </p:sp>
      <p:sp>
        <p:nvSpPr>
          <p:cNvPr id="3" name="Content Placeholder 2">
            <a:extLst>
              <a:ext uri="{FF2B5EF4-FFF2-40B4-BE49-F238E27FC236}">
                <a16:creationId xmlns:a16="http://schemas.microsoft.com/office/drawing/2014/main" id="{7FAB9B4F-3BA2-D196-5EE4-C0C0008C1D6B}"/>
              </a:ext>
            </a:extLst>
          </p:cNvPr>
          <p:cNvSpPr>
            <a:spLocks noGrp="1"/>
          </p:cNvSpPr>
          <p:nvPr>
            <p:ph idx="1"/>
          </p:nvPr>
        </p:nvSpPr>
        <p:spPr/>
        <p:txBody>
          <a:bodyPr>
            <a:normAutofit fontScale="85000" lnSpcReduction="10000"/>
          </a:bodyPr>
          <a:lstStyle/>
          <a:p>
            <a:r>
              <a:rPr lang="en-US" dirty="0"/>
              <a:t>This chapter highlights the critical role of African languages in shaping the future of Artificial Intelligence, particularly in the field of Natural Language Processing (NLP). Africa is home to over 2,000 languages, many of which are considered low-resource, meaning there is limited digital data available for AI training. Without proper linguistic representation, AI tools such as chatbots, virtual assistants, and translation systems fail to serve large segments of the African population, limiting accessibility and digital inclusion.</a:t>
            </a:r>
          </a:p>
          <a:p>
            <a:r>
              <a:rPr lang="en-US" dirty="0"/>
              <a:t>To address this, there is a growing need to develop NLP models specifically for widely spoken African languages such as Swahili, Hausa, Amharic, Luganda, Yoruba, and Zulu. By creating AI systems that understand and process these languages, technology becomes more relevant, culturally sensitive, and inclusive. Such AI applications enable communication, education, healthcare, and customer services in local languages, ensuring that AI benefits reach diverse communities across the continent.</a:t>
            </a:r>
          </a:p>
        </p:txBody>
      </p:sp>
    </p:spTree>
    <p:extLst>
      <p:ext uri="{BB962C8B-B14F-4D97-AF65-F5344CB8AC3E}">
        <p14:creationId xmlns:p14="http://schemas.microsoft.com/office/powerpoint/2010/main" val="3760158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17DAE-330A-DDE9-FC3D-06198E47F718}"/>
              </a:ext>
            </a:extLst>
          </p:cNvPr>
          <p:cNvSpPr>
            <a:spLocks noGrp="1"/>
          </p:cNvSpPr>
          <p:nvPr>
            <p:ph type="title"/>
          </p:nvPr>
        </p:nvSpPr>
        <p:spPr/>
        <p:txBody>
          <a:bodyPr/>
          <a:lstStyle/>
          <a:p>
            <a:r>
              <a:rPr lang="en-US" dirty="0"/>
              <a:t>Ai applications shaped by African cultural needs</a:t>
            </a:r>
          </a:p>
        </p:txBody>
      </p:sp>
      <p:sp>
        <p:nvSpPr>
          <p:cNvPr id="3" name="Content Placeholder 2">
            <a:extLst>
              <a:ext uri="{FF2B5EF4-FFF2-40B4-BE49-F238E27FC236}">
                <a16:creationId xmlns:a16="http://schemas.microsoft.com/office/drawing/2014/main" id="{581E2E4F-69CE-FAD4-8662-882EF3535ABF}"/>
              </a:ext>
            </a:extLst>
          </p:cNvPr>
          <p:cNvSpPr>
            <a:spLocks noGrp="1"/>
          </p:cNvSpPr>
          <p:nvPr>
            <p:ph idx="1"/>
          </p:nvPr>
        </p:nvSpPr>
        <p:spPr/>
        <p:txBody>
          <a:bodyPr>
            <a:normAutofit fontScale="77500" lnSpcReduction="20000"/>
          </a:bodyPr>
          <a:lstStyle/>
          <a:p>
            <a:r>
              <a:rPr lang="en-US" dirty="0"/>
              <a:t>This chapter explores how African cultural needs are driving the development of practical and contextually relevant AI applications. In agriculture, AI systems leverage indigenous farming knowledge to improve crop disease diagnosis, helping farmers increase productivity and reduce losses. In healthcare, AI tools are trained using local disease patterns and culturally specific symptom descriptions, making medical assistance more accurate and accessible to communities. Similarly, educational AI applications focus on African languages, supporting language learning and promoting digital literacy across the continent.</a:t>
            </a:r>
          </a:p>
          <a:p>
            <a:r>
              <a:rPr lang="en-US" dirty="0"/>
              <a:t>Beyond these sectors, AI also contributes to environmental conservation by using traditional ecological indicators to create predictive models for climate and natural resource management. Additionally, AI helps preserve Africa’s rich cultural heritage by digitizing oral histories, music, and traditional artifacts, making them accessible to future generations. These examples demonstrate that when AI is informed by African culture, it becomes more effective, inclusive, and socially meaningful, addressing real-world challenges while celebrating the continent’s unique knowledge systems.</a:t>
            </a:r>
          </a:p>
        </p:txBody>
      </p:sp>
    </p:spTree>
    <p:extLst>
      <p:ext uri="{BB962C8B-B14F-4D97-AF65-F5344CB8AC3E}">
        <p14:creationId xmlns:p14="http://schemas.microsoft.com/office/powerpoint/2010/main" val="1047871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F6D39-F9B0-90BA-9CB8-B72B04956493}"/>
              </a:ext>
            </a:extLst>
          </p:cNvPr>
          <p:cNvSpPr>
            <a:spLocks noGrp="1"/>
          </p:cNvSpPr>
          <p:nvPr>
            <p:ph type="title"/>
          </p:nvPr>
        </p:nvSpPr>
        <p:spPr/>
        <p:txBody>
          <a:bodyPr/>
          <a:lstStyle/>
          <a:p>
            <a:r>
              <a:rPr lang="en-US" dirty="0"/>
              <a:t>Challenges of Integrating African Culture into AI</a:t>
            </a:r>
          </a:p>
        </p:txBody>
      </p:sp>
      <p:sp>
        <p:nvSpPr>
          <p:cNvPr id="3" name="Content Placeholder 2">
            <a:extLst>
              <a:ext uri="{FF2B5EF4-FFF2-40B4-BE49-F238E27FC236}">
                <a16:creationId xmlns:a16="http://schemas.microsoft.com/office/drawing/2014/main" id="{95B60B6E-8998-BCF4-8F68-DEE4682B18FA}"/>
              </a:ext>
            </a:extLst>
          </p:cNvPr>
          <p:cNvSpPr>
            <a:spLocks noGrp="1"/>
          </p:cNvSpPr>
          <p:nvPr>
            <p:ph idx="1"/>
          </p:nvPr>
        </p:nvSpPr>
        <p:spPr/>
        <p:txBody>
          <a:bodyPr>
            <a:normAutofit fontScale="85000" lnSpcReduction="20000"/>
          </a:bodyPr>
          <a:lstStyle/>
          <a:p>
            <a:r>
              <a:rPr lang="en-US" dirty="0"/>
              <a:t>This chapter discusses the key challenges of integrating African culture into Artificial Intelligence (AI). One major obstacle is the lack of structured datasets capturing African cultural knowledge, which limits the ability of AI systems to learn from local contexts. Additionally, many African languages are considered low-resource, making it difficult to develop effective Natural Language Processing (NLP) tools. Limited research funding for culture-based AI further constrains the development of technologies that reflect African realities.</a:t>
            </a:r>
          </a:p>
          <a:p>
            <a:r>
              <a:rPr lang="en-US" dirty="0"/>
              <a:t>Other challenges include the dominance of Western-centered AI ethics frameworks, which often overlook or conflict with African philosophical principles, such as Ubuntu and communal decision-making. There is also the risk of cultural misinterpretation or exploitation when AI is designed without sufficient understanding of local traditions and values. Together, these issues highlight the need for increased investment, culturally sensitive research, and ethical frameworks that prioritize African perspectives in AI development.</a:t>
            </a:r>
          </a:p>
        </p:txBody>
      </p:sp>
    </p:spTree>
    <p:extLst>
      <p:ext uri="{BB962C8B-B14F-4D97-AF65-F5344CB8AC3E}">
        <p14:creationId xmlns:p14="http://schemas.microsoft.com/office/powerpoint/2010/main" val="2730850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6AF5D-52E2-CF5A-D2A4-BD56E804632D}"/>
              </a:ext>
            </a:extLst>
          </p:cNvPr>
          <p:cNvSpPr>
            <a:spLocks noGrp="1"/>
          </p:cNvSpPr>
          <p:nvPr>
            <p:ph type="title"/>
          </p:nvPr>
        </p:nvSpPr>
        <p:spPr/>
        <p:txBody>
          <a:bodyPr/>
          <a:lstStyle/>
          <a:p>
            <a:r>
              <a:rPr lang="en-US" dirty="0"/>
              <a:t>Opportunities and the Future of African-Inspired AI</a:t>
            </a:r>
          </a:p>
        </p:txBody>
      </p:sp>
      <p:sp>
        <p:nvSpPr>
          <p:cNvPr id="3" name="Content Placeholder 2">
            <a:extLst>
              <a:ext uri="{FF2B5EF4-FFF2-40B4-BE49-F238E27FC236}">
                <a16:creationId xmlns:a16="http://schemas.microsoft.com/office/drawing/2014/main" id="{38821A23-950D-ED95-3461-9C141305BE0E}"/>
              </a:ext>
            </a:extLst>
          </p:cNvPr>
          <p:cNvSpPr>
            <a:spLocks noGrp="1"/>
          </p:cNvSpPr>
          <p:nvPr>
            <p:ph idx="1"/>
          </p:nvPr>
        </p:nvSpPr>
        <p:spPr/>
        <p:txBody>
          <a:bodyPr>
            <a:normAutofit fontScale="85000" lnSpcReduction="20000"/>
          </a:bodyPr>
          <a:lstStyle/>
          <a:p>
            <a:r>
              <a:rPr lang="en-US" dirty="0"/>
              <a:t>This chapter highlights the opportunities and future potential of African-inspired Artificial Intelligence (AI). Ethical AI frameworks grounded in African philosophies like Ubuntu can guide the development of technologies that prioritize fairness, empathy, and social well-being. Open-source collaboration empowers African AI researchers, fostering innovation and ensuring that AI solutions are locally relevant and culturally informed. Emerging AI hubs in countries such as Kenya, Nigeria, Ghana, Rwanda, and South Africa are creating fertile environments for research, training, and technological entrepreneurship.</a:t>
            </a:r>
          </a:p>
          <a:p>
            <a:r>
              <a:rPr lang="en-US" dirty="0"/>
              <a:t>African-inspired AI also offers significant potential for cultural preservation and inclusion. AI technologies can help document and maintain endangered languages, digitize oral histories, and safeguard cultural heritage for future generations. Moreover, African perspectives on ethics and communal values contribute to global discussions on AI fairness and inclusivity, offering alternative frameworks that can improve decision-making and reduce bias in AI systems worldwide. These opportunities demonstrate that African culture is not only shaping regional AI innovations but also influencing the global AI landscape.</a:t>
            </a:r>
          </a:p>
        </p:txBody>
      </p:sp>
    </p:spTree>
    <p:extLst>
      <p:ext uri="{BB962C8B-B14F-4D97-AF65-F5344CB8AC3E}">
        <p14:creationId xmlns:p14="http://schemas.microsoft.com/office/powerpoint/2010/main" val="2994321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80969-1973-60F3-2346-D35C7C600283}"/>
              </a:ext>
            </a:extLst>
          </p:cNvPr>
          <p:cNvSpPr>
            <a:spLocks noGrp="1"/>
          </p:cNvSpPr>
          <p:nvPr>
            <p:ph type="title"/>
          </p:nvPr>
        </p:nvSpPr>
        <p:spPr/>
        <p:txBody>
          <a:bodyPr/>
          <a:lstStyle/>
          <a:p>
            <a:r>
              <a:rPr lang="en-US" dirty="0"/>
              <a:t>Conclusion and Recommendations</a:t>
            </a:r>
          </a:p>
        </p:txBody>
      </p:sp>
      <p:sp>
        <p:nvSpPr>
          <p:cNvPr id="3" name="Content Placeholder 2">
            <a:extLst>
              <a:ext uri="{FF2B5EF4-FFF2-40B4-BE49-F238E27FC236}">
                <a16:creationId xmlns:a16="http://schemas.microsoft.com/office/drawing/2014/main" id="{D0C3D38A-8066-D13F-F8F4-90E50E1A1EC0}"/>
              </a:ext>
            </a:extLst>
          </p:cNvPr>
          <p:cNvSpPr>
            <a:spLocks noGrp="1"/>
          </p:cNvSpPr>
          <p:nvPr>
            <p:ph idx="1"/>
          </p:nvPr>
        </p:nvSpPr>
        <p:spPr/>
        <p:txBody>
          <a:bodyPr>
            <a:normAutofit fontScale="85000" lnSpcReduction="20000"/>
          </a:bodyPr>
          <a:lstStyle/>
          <a:p>
            <a:r>
              <a:rPr lang="en-US" dirty="0"/>
              <a:t>This chapter concludes that African culture plays a crucial role in shaping ethical, inclusive, and contextually relevant Artificial Intelligence (AI). Indigenous knowledge systems and African languages provide essential data and frameworks that enhance AI accuracy, usability, and cultural relevance. AI technologies that incorporate these cultural elements are more widely accepted and sustainable, addressing local needs while reflecting African values such as Ubuntu, communalism, and respect for the environment.</a:t>
            </a:r>
          </a:p>
          <a:p>
            <a:r>
              <a:rPr lang="en-US" dirty="0"/>
              <a:t>Based on these findings, several recommendations are proposed to strengthen African-centered AI development. These include promoting research on African languages for Natural Language Processing, digitizing indigenous knowledge to preserve and utilize it in AI models, and integrating Ubuntu philosophy into AI governance to ensure ethical decision-making. </a:t>
            </a:r>
            <a:r>
              <a:rPr lang="en-US"/>
              <a:t>Additionally, increased funding for African-focused AI innovation is essential to support research, build capacity, and develop technologies that are both locally relevant and globally influential.</a:t>
            </a:r>
          </a:p>
        </p:txBody>
      </p:sp>
    </p:spTree>
    <p:extLst>
      <p:ext uri="{BB962C8B-B14F-4D97-AF65-F5344CB8AC3E}">
        <p14:creationId xmlns:p14="http://schemas.microsoft.com/office/powerpoint/2010/main" val="23800403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47</TotalTime>
  <Words>1653</Words>
  <Application>Microsoft Office PowerPoint</Application>
  <PresentationFormat>Widescreen</PresentationFormat>
  <Paragraphs>30</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Gill Sans MT</vt:lpstr>
      <vt:lpstr>Gallery</vt:lpstr>
      <vt:lpstr>The Role of African Culture in Shaping Artificial Intelligence</vt:lpstr>
      <vt:lpstr>Introduction</vt:lpstr>
      <vt:lpstr>Literature review</vt:lpstr>
      <vt:lpstr>African Cultural Philosophies and Their Relevance to AI</vt:lpstr>
      <vt:lpstr>indigenous knowledge systems and ai innovation  </vt:lpstr>
      <vt:lpstr>African languages and natural language processing</vt:lpstr>
      <vt:lpstr>Ai applications shaped by African cultural needs</vt:lpstr>
      <vt:lpstr>Challenges of Integrating African Culture into AI</vt:lpstr>
      <vt:lpstr>Opportunities and the Future of African-Inspired AI</vt:lpstr>
      <vt:lpstr>Conclusion and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harun mwamunga</dc:creator>
  <cp:lastModifiedBy>harun mwamunga</cp:lastModifiedBy>
  <cp:revision>1</cp:revision>
  <dcterms:created xsi:type="dcterms:W3CDTF">2025-11-26T11:24:35Z</dcterms:created>
  <dcterms:modified xsi:type="dcterms:W3CDTF">2025-11-26T12:11:53Z</dcterms:modified>
</cp:coreProperties>
</file>